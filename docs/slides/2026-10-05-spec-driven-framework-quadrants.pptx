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2058214bad4be7" /><Relationship Type="http://schemas.openxmlformats.org/officeDocument/2006/relationships/extended-properties" Target="/docProps/app.xml" Id="R6e29e5b3e3484aa0" /><Relationship Type="http://schemas.openxmlformats.org/officeDocument/2006/relationships/officeDocument" Target="/ppt/presentation.xml" Id="Re741b773c66548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5d8459e4314c03"/>
  </p:sldMasterIdLst>
  <p:notesMasterIdLst>
    <p:notesMasterId xmlns:r="http://schemas.openxmlformats.org/officeDocument/2006/relationships" r:id="R792644cdf3e24d27"/>
  </p:notesMasterIdLst>
  <p:sldIdLst>
    <p:sldId xmlns:r="http://schemas.openxmlformats.org/officeDocument/2006/relationships" id="256" r:id="Rbb4ea48e187340cb"/>
    <p:sldId xmlns:r="http://schemas.openxmlformats.org/officeDocument/2006/relationships" id="257" r:id="R955fcef9afdd4a80"/>
    <p:sldId xmlns:r="http://schemas.openxmlformats.org/officeDocument/2006/relationships" id="258" r:id="R76b425c8dde54a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999c24184b4b3a" /><Relationship Type="http://schemas.openxmlformats.org/officeDocument/2006/relationships/slideMaster" Target="/ppt/slideMasters/slideMaster1.xml" Id="Rce5d8459e4314c03" /><Relationship Type="http://schemas.openxmlformats.org/officeDocument/2006/relationships/notesMaster" Target="/ppt/notesMasters/notesMaster1.xml" Id="R792644cdf3e24d27" /><Relationship Type="http://schemas.openxmlformats.org/officeDocument/2006/relationships/presProps" Target="/ppt/presProps.xml" Id="R65159fbcc4ff4b26" /><Relationship Type="http://schemas.openxmlformats.org/officeDocument/2006/relationships/tableStyles" Target="/ppt/tableStyles.xml" Id="R0e901f76d77d4ee5" /><Relationship Type="http://schemas.openxmlformats.org/officeDocument/2006/relationships/slide" Target="/ppt/slides/slide1.xml" Id="Rbb4ea48e187340cb" /><Relationship Type="http://schemas.openxmlformats.org/officeDocument/2006/relationships/slide" Target="/ppt/slides/slide2.xml" Id="R955fcef9afdd4a80" /><Relationship Type="http://schemas.openxmlformats.org/officeDocument/2006/relationships/slide" Target="/ppt/slides/slide3.xml" Id="R76b425c8dde54a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98429691c244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4cdea4efab4e09" /><Relationship Type="http://schemas.openxmlformats.org/officeDocument/2006/relationships/notesMaster" Target="/ppt/notesMasters/notesMaster1.xml" Id="R40f1933554664a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c1e35373b446cb" /><Relationship Type="http://schemas.openxmlformats.org/officeDocument/2006/relationships/notesMaster" Target="/ppt/notesMasters/notesMaster1.xml" Id="R083e4772447745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4de83e62c44970" /><Relationship Type="http://schemas.openxmlformats.org/officeDocument/2006/relationships/notesMaster" Target="/ppt/notesMasters/notesMaster1.xml" Id="R74b78d85032947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qualitative assessment of documented support, not Gartner research or observed business performance. Ordinal bands are not equal intervals or an aggregate maturity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Methodology: each point uses the exact integer band in the evidence data. Ties share a marker, no artificial jitter. Boundary between bands 2 and 3. All plot objects are native editable PowerPoint shapes; summary is a native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Upstream</a:t>
            </a:r>
          </a:p>
          <a:p xmlns:a="http://schemas.openxmlformats.org/drawingml/2006/main">
            <a:r>
              <a:t>0: No product framing in inspected scope</a:t>
            </a:r>
          </a:p>
          <a:p xmlns:a="http://schemas.openxmlformats.org/drawingml/2006/main">
            <a:r>
              <a:t>1: Problem/why and requirements framing</a:t>
            </a:r>
          </a:p>
          <a:p xmlns:a="http://schemas.openxmlformats.org/drawingml/2006/main">
            <a:r>
              <a:t>2: Repeatable outcome/option exploration; incomplete investment evidence</a:t>
            </a:r>
          </a:p>
          <a:p xmlns:a="http://schemas.openxmlformats.org/drawingml/2006/main">
            <a:r>
              <a:t>3: Structured discovery shapes a go/no-go or learning/delivery choice</a:t>
            </a:r>
          </a:p>
          <a:p xmlns:a="http://schemas.openxmlformats.org/drawingml/2006/main">
            <a:r>
              <a:t>4: Discovery, evidence thresholds and owned investment decisions form a complete linked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Downstream</a:t>
            </a:r>
          </a:p>
          <a:p xmlns:a="http://schemas.openxmlformats.org/drawingml/2006/main">
            <a:r>
              <a:t>0: Responsibility stops at engineering completion</a:t>
            </a:r>
          </a:p>
          <a:p xmlns:a="http://schemas.openxmlformats.org/drawingml/2006/main">
            <a:r>
              <a:t>1: Rollout/operations prompts or an ad hoc product-validation route</a:t>
            </a:r>
          </a:p>
          <a:p xmlns:a="http://schemas.openxmlformats.org/drawingml/2006/main">
            <a:r>
              <a:t>2: A concrete product-signal collection and review/reporting process</a:t>
            </a:r>
          </a:p>
          <a:p xmlns:a="http://schemas.openxmlformats.org/drawingml/2006/main">
            <a:r>
              <a:t>3: Adoption ownership plus triggered outcome decisions and routed follow-through</a:t>
            </a:r>
          </a:p>
          <a:p xmlns:a="http://schemas.openxmlformats.org/drawingml/2006/main">
            <a:r>
              <a:t>4: Recurring outcome decisions close the loop into subsequent investment and ongoing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SDLC</a:t>
            </a:r>
          </a:p>
          <a:p xmlns:a="http://schemas.openxmlformats.org/drawingml/2006/main">
            <a:r>
              <a:t>0: No delivery process established</a:t>
            </a:r>
          </a:p>
          <a:p xmlns:a="http://schemas.openxmlformats.org/drawingml/2006/main">
            <a:r>
              <a:t>1: Requirements or task guidance only</a:t>
            </a:r>
          </a:p>
          <a:p xmlns:a="http://schemas.openxmlformats.org/drawingml/2006/main">
            <a:r>
              <a:t>2: Linked requirements, implementation and basic checks</a:t>
            </a:r>
          </a:p>
          <a:p xmlns:a="http://schemas.openxmlformats.org/drawingml/2006/main">
            <a:r>
              <a:t>3: Structured execution plus acceptance/verification and change handling</a:t>
            </a:r>
          </a:p>
          <a:p xmlns:a="http://schemas.openxmlformats.org/drawingml/2006/main">
            <a:r>
              <a:t>4: Explicit corrective review/convergence loop with completion criteria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PDLC</a:t>
            </a:r>
          </a:p>
          <a:p xmlns:a="http://schemas.openxmlformats.org/drawingml/2006/main">
            <a:r>
              <a:t>0: No product intent established</a:t>
            </a:r>
          </a:p>
          <a:p xmlns:a="http://schemas.openxmlformats.org/drawingml/2006/main">
            <a:r>
              <a:t>1: Intent framing; delivery remains the completion boundary</a:t>
            </a:r>
          </a:p>
          <a:p xmlns:a="http://schemas.openxmlformats.org/drawingml/2006/main">
            <a:r>
              <a:t>2: Substantial discovery or product-evidence mechanisms; lifecycle links incomplete</a:t>
            </a:r>
          </a:p>
          <a:p xmlns:a="http://schemas.openxmlformats.org/drawingml/2006/main">
            <a:r>
              <a:t>3: Intent → signal → adoption owner → human outcome decision → next action is required</a:t>
            </a:r>
          </a:p>
          <a:p xmlns:a="http://schemas.openxmlformats.org/drawingml/2006/main">
            <a:r>
              <a:t>4: The complete contract recurs across investment, delivery and operation with learning routed forward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Spec Kit — upstream core</a:t>
            </a:r>
          </a:p>
          <a:p xmlns:a="http://schemas.openxmlformats.org/drawingml/2006/main">
            <a:r>
              <a:t>Scope: Default feature workflow; optional Assess excluded from this row</a:t>
            </a:r>
          </a:p>
          <a:p xmlns:a="http://schemas.openxmlformats.org/drawingml/2006/main">
            <a:r>
              <a:t>Snapshot: b1463da80bdba3cf6b019118ed499888758233d2</a:t>
            </a:r>
          </a:p>
          <a:p xmlns:a="http://schemas.openxmlformats.org/drawingml/2006/main">
            <a:r>
              <a:t>Bands: Upstream 1, Downstream 0, SDLC 4, PDLC 1</a:t>
            </a:r>
          </a:p>
          <a:p xmlns:a="http://schemas.openxmlformats.org/drawingml/2006/main">
            <a:r>
              <a:t>Technology-independent success criteria and a repeatable convergence loop preserve specification intent through implementation.</a:t>
            </a:r>
          </a:p>
          <a:p xmlns:a="http://schemas.openxmlformats.org/drawingml/2006/main">
            <a:r>
              <a:t>Boundary: Convergence compares software with spec, plan and tasks; a converged result proceeds to review/PR. Its inventory explicitly excludes post-launch business outcomes.</a:t>
            </a:r>
          </a:p>
          <a:p xmlns:a="http://schemas.openxmlformats.org/drawingml/2006/main">
            <a:r>
              <a:t>Gap: No required owner receives responsibility for adoption evidence or a post-launch product decision.</a:t>
            </a:r>
          </a:p>
          <a:p xmlns:a="http://schemas.openxmlformats.org/drawingml/2006/main">
            <a:r>
              <a:t>Consequence: Correct software can close the investment before anyone checks whether users gained the intended benefit.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Core convergence: scope and completion: https://github.com/github/spec-kit/blob/b1463da80bdba3cf6b019118ed499888758233d2/templates%2Fcommands%2Fconverge.md</a:t>
            </a:r>
          </a:p>
          <a:p xmlns:a="http://schemas.openxmlformats.org/drawingml/2006/main">
            <a:r>
              <a:t>Spec template: success criteria: https://github.com/github/spec-kit/blob/b1463da80bdba3cf6b019118ed499888758233d2/templates%2Fspec-template.md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A+ Spec Kit + Assess</a:t>
            </a:r>
          </a:p>
          <a:p xmlns:a="http://schemas.openxmlformats.org/drawingml/2006/main">
            <a:r>
              <a:t>Scope: Optional Assess installed and selected before core SDD</a:t>
            </a:r>
          </a:p>
          <a:p xmlns:a="http://schemas.openxmlformats.org/drawingml/2006/main">
            <a:r>
              <a:t>Snapshot: b1463da80bdba3cf6b019118ed499888758233d2</a:t>
            </a:r>
          </a:p>
          <a:p xmlns:a="http://schemas.openxmlformats.org/drawingml/2006/main">
            <a:r>
              <a:t>Bands: Upstream 3, Downstream 0, SDLC 4, PDLC 2</a:t>
            </a:r>
          </a:p>
          <a:p xmlns:a="http://schemas.openxmlformats.org/drawingml/2006/main">
            <a:r>
              <a:t>Intake, research, definition, shaping and a human-reviewed go/clarify/kill decision can reduce investment in weak ideas.</a:t>
            </a:r>
          </a:p>
          <a:p xmlns:a="http://schemas.openxmlformats.org/drawingml/2006/main">
            <a:r>
              <a:t>Boundary: An approved assessment hands off manually to specification. Assess is a separate workflow without lifecycle hooks.</a:t>
            </a:r>
          </a:p>
          <a:p xmlns:a="http://schemas.openxmlformats.org/drawingml/2006/main">
            <a:r>
              <a:t>Gap: The front-end investment decision has no matching outcome review after delivery.</a:t>
            </a:r>
          </a:p>
          <a:p xmlns:a="http://schemas.openxmlformats.org/drawingml/2006/main">
            <a:r>
              <a:t>Consequence: Better initial selection does not tell the sponsor when a once-plausible bet has stopped paying off.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Assess workflow boundary: https://github.com/github/spec-kit/blob/b1463da80bdba3cf6b019118ed499888758233d2/extensions%2Fassess%2FREADME.md</a:t>
            </a:r>
          </a:p>
          <a:p xmlns:a="http://schemas.openxmlformats.org/drawingml/2006/main">
            <a:r>
              <a:t>Define: metrics and baseline: https://github.com/github/spec-kit/blob/b1463da80bdba3cf6b019118ed499888758233d2/extensions%2Fassess%2Fcommands%2Fspeckit.assess.define.md</a:t>
            </a:r>
          </a:p>
          <a:p xmlns:a="http://schemas.openxmlformats.org/drawingml/2006/main">
            <a:r>
              <a:t>Decide: evidence and verdict: https://github.com/github/spec-kit/blob/b1463da80bdba3cf6b019118ed499888758233d2/extensions%2Fassess%2Fcommands%2Fspeckit.assess.decide.md</a:t>
            </a:r>
          </a:p>
          <a:p xmlns:a="http://schemas.openxmlformats.org/drawingml/2006/main">
            <a:r>
              <a:t>Human review step: https://github.com/github/spec-kit/blob/b1463da80bdba3cf6b019118ed499888758233d2/workflows%2Fassess%2Fworkflow.yml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 Spec Kit — Yuval PDLC fork</a:t>
            </a:r>
          </a:p>
          <a:p xmlns:a="http://schemas.openxmlformats.org/drawingml/2006/main">
            <a:r>
              <a:t>Scope: Customized specify/plan/tasks/implement/validate path</a:t>
            </a:r>
          </a:p>
          <a:p xmlns:a="http://schemas.openxmlformats.org/drawingml/2006/main">
            <a:r>
              <a:t>Snapshot: cb644d4ed8fb1555761c366f4d3646e90c743bb6</a:t>
            </a:r>
          </a:p>
          <a:p xmlns:a="http://schemas.openxmlformats.org/drawingml/2006/main">
            <a:r>
              <a:t>Bands: Upstream 3, Downstream 1, SDLC 3, PDLC 2</a:t>
            </a:r>
          </a:p>
          <a:p xmlns:a="http://schemas.openxmlformats.org/drawingml/2006/main">
            <a:r>
              <a:t>Conviction and value/usability/feasibility/viability assumptions change the execution strategy. Validation consumes real-world evidence and can recommend a pivot or stop.</a:t>
            </a:r>
          </a:p>
          <a:p xmlns:a="http://schemas.openxmlformats.org/drawingml/2006/main">
            <a:r>
              <a:t>Boundary: A separate validation command can reopen specification; it is not an owned, automatically reached post-delivery review.</a:t>
            </a:r>
          </a:p>
          <a:p xmlns:a="http://schemas.openxmlformats.org/drawingml/2006/main">
            <a:r>
              <a:t>Gap: Adoption ownership, review timing and decision-ready indicator contracts remain unspecified.</a:t>
            </a:r>
          </a:p>
          <a:p xmlns:a="http://schemas.openxmlformats.org/drawingml/2006/main">
            <a:r>
              <a:t>Consequence: Teams can select a learning strategy yet finish delivery without settling the assumption that justified the work.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Full local assessment and evidence: 2026-10-05-spec-kit-pdlc-readiness.html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 Kiro Specs</a:t>
            </a:r>
          </a:p>
          <a:p xmlns:a="http://schemas.openxmlformats.org/drawingml/2006/main">
            <a:r>
              <a:t>Scope: Documented IDE feature-spec workflow, correctness and hooks; not every Kiro product capability</a:t>
            </a:r>
          </a:p>
          <a:p xmlns:a="http://schemas.openxmlformats.org/drawingml/2006/main">
            <a:r>
              <a:t>Snapshot: Official docs retrieved 2026-10-05</a:t>
            </a:r>
          </a:p>
          <a:p xmlns:a="http://schemas.openxmlformats.org/drawingml/2006/main">
            <a:r>
              <a:t>Bands: Upstream 1, Downstream 0, SDLC 3, PDLC 1</a:t>
            </a:r>
          </a:p>
          <a:p xmlns:a="http://schemas.openxmlformats.org/drawingml/2006/main">
            <a:r>
              <a:t>Requirements, design and implementation tasks provide a clear engineering sequence. IDE correctness properties add systematic checks of specified behavior.</a:t>
            </a:r>
          </a:p>
          <a:p xmlns:a="http://schemas.openxmlformats.org/drawingml/2006/main">
            <a:r>
              <a:t>Boundary: Task execution and correctness checks establish implementation conformance. User-configurable hooks extend automation but do not supply a product review contract.</a:t>
            </a:r>
          </a:p>
          <a:p xmlns:a="http://schemas.openxmlformats.org/drawingml/2006/main">
            <a:r>
              <a:t>Gap: The inspected Specs path does not carry product hypotheses, leading signals and an adoption/review owner beyond task completion.</a:t>
            </a:r>
          </a:p>
          <a:p xmlns:a="http://schemas.openxmlformats.org/drawingml/2006/main">
            <a:r>
              <a:t>Consequence: Excellent behavioral checks can validate the chosen solution without establishing that it solves a valuable problem.</a:t>
            </a:r>
          </a:p>
          <a:p xmlns:a="http://schemas.openxmlformats.org/drawingml/2006/main">
            <a:r>
              <a:t>Confidence: Medium; official documentation, no configured installation or runtime audit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Feature-spec sequence: https://kiro.dev/docs/specs/feature-specs/</a:t>
            </a:r>
          </a:p>
          <a:p xmlns:a="http://schemas.openxmlformats.org/drawingml/2006/main">
            <a:r>
              <a:t>Correctness scope and IDE availability: https://kiro.dev/docs/specs/correctness/</a:t>
            </a:r>
          </a:p>
          <a:p xmlns:a="http://schemas.openxmlformats.org/drawingml/2006/main">
            <a:r>
              <a:t>Configurable hooks: https://kiro.dev/docs/hooks/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 OpenSpec</a:t>
            </a:r>
          </a:p>
          <a:p xmlns:a="http://schemas.openxmlformats.org/drawingml/2006/main">
            <a:r>
              <a:t>Scope: Default spec-driven schema; explore/propose/apply/archive, with optional verification</a:t>
            </a:r>
          </a:p>
          <a:p xmlns:a="http://schemas.openxmlformats.org/drawingml/2006/main">
            <a:r>
              <a:t>Snapshot: 2500d6da971336167548b53731a35b2127df35ac</a:t>
            </a:r>
          </a:p>
          <a:p xmlns:a="http://schemas.openxmlformats.org/drawingml/2006/main">
            <a:r>
              <a:t>Bands: Upstream 1, Downstream 0, SDLC 3, PDLC 1</a:t>
            </a:r>
          </a:p>
          <a:p xmlns:a="http://schemas.openxmlformats.org/drawingml/2006/main">
            <a:r>
              <a:t>Proposals, behavioral scenarios and change archives keep implementation and a durable specification aligned. Optional verification checks completeness, correctness and coherence.</a:t>
            </a:r>
          </a:p>
          <a:p xmlns:a="http://schemas.openxmlformats.org/drawingml/2006/main">
            <a:r>
              <a:t>Boundary: Apply completes tasks; archive incorporates the change into long-lived specs. Verification is an additional workflow, and warnings do not necessarily block archiving.</a:t>
            </a:r>
          </a:p>
          <a:p xmlns:a="http://schemas.openxmlformats.org/drawingml/2006/main">
            <a:r>
              <a:t>Gap: The default artifacts explain why a change is wanted but do not require a product measurement or outcome decision after archive.</a:t>
            </a:r>
          </a:p>
          <a:p xmlns:a="http://schemas.openxmlformats.org/drawingml/2006/main">
            <a:r>
              <a:t>Consequence: A coherent history of delivered changes can accumulate without showing which changes improved user outcomes.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Default schema: proposal through apply: https://github.com/Fission-AI/OpenSpec/blob/2500d6da971336167548b53731a35b2127df35ac/schemas%2Fspec-driven%2Fschema.yaml</a:t>
            </a:r>
          </a:p>
          <a:p xmlns:a="http://schemas.openxmlformats.org/drawingml/2006/main">
            <a:r>
              <a:t>Workflow profiles and archive: https://github.com/Fission-AI/OpenSpec/blob/2500d6da971336167548b53731a35b2127df35ac/docs%2Fworkflows.md</a:t>
            </a:r>
          </a:p>
          <a:p xmlns:a="http://schemas.openxmlformats.org/drawingml/2006/main">
            <a:r>
              <a:t>Verify and archive behavior: https://github.com/Fission-AI/OpenSpec/blob/2500d6da971336167548b53731a35b2127df35ac/docs%2Fcommands.md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 BMAD Method</a:t>
            </a:r>
          </a:p>
          <a:p xmlns:a="http://schemas.openxmlformats.org/drawingml/2006/main">
            <a:r>
              <a:t>Scope: Selected product-brief/PRD/spec/build/retrospective path; not a claim about every quick task</a:t>
            </a:r>
          </a:p>
          <a:p xmlns:a="http://schemas.openxmlformats.org/drawingml/2006/main">
            <a:r>
              <a:t>Snapshot: 8f2c13dd0e0073cad84168a679e5c553b2fb30b6</a:t>
            </a:r>
          </a:p>
          <a:p xmlns:a="http://schemas.openxmlformats.org/drawingml/2006/main">
            <a:r>
              <a:t>Bands: Upstream 2, Downstream 1, SDLC 3, PDLC 2</a:t>
            </a:r>
          </a:p>
          <a:p xmlns:a="http://schemas.openxmlformats.org/drawingml/2006/main">
            <a:r>
              <a:t>Product briefs and PRDs connect user pain, business success, assumptions and measurable success. The PRD adds countermetrics and risk-sensitive rollout/operations topics; course correction supports human-approved replanning.</a:t>
            </a:r>
          </a:p>
          <a:p xmlns:a="http://schemas.openxmlformats.org/drawingml/2006/main">
            <a:r>
              <a:t>Boundary: Epic retrospectives inspect integrated behavior and delivery evidence, feeding corrective tickets and a next-epic decision. They do not by themselves require customer-value evidence after launch.</a:t>
            </a:r>
          </a:p>
          <a:p xmlns:a="http://schemas.openxmlformats.org/drawingml/2006/main">
            <a:r>
              <a:t>Gap: Measurement and rollout prompts are not consistently connected to a named owner, review window and product investment response.</a:t>
            </a:r>
          </a:p>
          <a:p xmlns:a="http://schemas.openxmlformats.org/drawingml/2006/main">
            <a:r>
              <a:t>Consequence: A substantial planning and retrospective process can still judge success using delivery evidence while customer adoption remains unresolved.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Discovery and research instructions: https://github.com/bmad-code-org/BMAD-METHOD/blob/8f2c13dd0e0073cad84168a679e5c553b2fb30b6/skills%2Fbmad-product-brief%2FSKILL.md</a:t>
            </a:r>
          </a:p>
          <a:p xmlns:a="http://schemas.openxmlformats.org/drawingml/2006/main">
            <a:r>
              <a:t>Product brief template: https://github.com/bmad-code-org/BMAD-METHOD/blob/8f2c13dd0e0073cad84168a679e5c553b2fb30b6/skills%2Fbmad-product-brief%2Fassets%2Fbrief-template.md</a:t>
            </a:r>
          </a:p>
          <a:p xmlns:a="http://schemas.openxmlformats.org/drawingml/2006/main">
            <a:r>
              <a:t>PRD success metrics and risk adaptations: https://github.com/bmad-code-org/BMAD-METHOD/blob/8f2c13dd0e0073cad84168a679e5c553b2fb30b6/skills%2Fbmad-prd%2Fassets%2Fprd-template.md</a:t>
            </a:r>
          </a:p>
          <a:p xmlns:a="http://schemas.openxmlformats.org/drawingml/2006/main">
            <a:r>
              <a:t>Epic retrospective boundary: https://github.com/bmad-code-org/BMAD-METHOD/blob/8f2c13dd0e0073cad84168a679e5c553b2fb30b6/docs%2Fbuild%2Ffinish-an-epic.md</a:t>
            </a:r>
          </a:p>
          <a:p xmlns:a="http://schemas.openxmlformats.org/drawingml/2006/main">
            <a:r>
              <a:t>Human-approved course correction: https://github.com/bmad-code-org/BMAD-METHOD/blob/8f2c13dd0e0073cad84168a679e5c553b2fb30b6/skills%2Fbmad-correct-course%2FSKILL.md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 Compound Engineering — coding path</a:t>
            </a:r>
          </a:p>
          <a:p xmlns:a="http://schemas.openxmlformats.org/drawingml/2006/main">
            <a:r>
              <a:t>Scope: Brainstorm/plan/work/review/compound; Strategy and Product Pulse not assumed configured</a:t>
            </a:r>
          </a:p>
          <a:p xmlns:a="http://schemas.openxmlformats.org/drawingml/2006/main">
            <a:r>
              <a:t>Snapshot: 030188b4ba27f2dc33fbc4d5a112d3c8cc893e8c</a:t>
            </a:r>
          </a:p>
          <a:p xmlns:a="http://schemas.openxmlformats.org/drawingml/2006/main">
            <a:r>
              <a:t>Bands: Upstream 2, Downstream 1, SDLC 4, PDLC 1</a:t>
            </a:r>
          </a:p>
          <a:p xmlns:a="http://schemas.openxmlformats.org/drawingml/2006/main">
            <a:r>
              <a:t>A unified plan separates outcomes from implementation means, preserves requirements and verification, and carries review findings through fixes and explicit shipping checks.</a:t>
            </a:r>
          </a:p>
          <a:p xmlns:a="http://schemas.openxmlformats.org/drawingml/2006/main">
            <a:r>
              <a:t>Boundary: The inspected shipping contract ends with reviewed work and commit/PR. Operational considerations may enter the plan when material; engineering learning is captured separately.</a:t>
            </a:r>
          </a:p>
          <a:p xmlns:a="http://schemas.openxmlformats.org/drawingml/2006/main">
            <a:r>
              <a:t>Gap: An outcome-shaped objective does not automatically connect shipped work to adoption evidence and a product decision.</a:t>
            </a:r>
          </a:p>
          <a:p xmlns:a="http://schemas.openxmlformats.org/drawingml/2006/main">
            <a:r>
              <a:t>Consequence: Teams can improve how they deliver each change while learning too little about which changes deserve continued investment.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Unified plan: objective, product and verification contracts: https://github.com/EveryInc/compound-engineering-plugin/blob/030188b4ba27f2dc33fbc4d5a112d3c8cc893e8c/skills%2Fce-plan%2Freferences%2Fplan-sections.md</a:t>
            </a:r>
          </a:p>
          <a:p xmlns:a="http://schemas.openxmlformats.org/drawingml/2006/main">
            <a:r>
              <a:t>Shipping: review, fixes and completion: https://github.com/EveryInc/compound-engineering-plugin/blob/030188b4ba27f2dc33fbc4d5a112d3c8cc893e8c/skills%2Fce-work%2Freferences%2Fshipping-workflow.md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F+ Compound + Strategy / Product Pulse</a:t>
            </a:r>
          </a:p>
          <a:p xmlns:a="http://schemas.openxmlformats.org/drawingml/2006/main">
            <a:r>
              <a:t>Scope: Optional strategy and analytics skills explicitly selected and configured alongside coding</a:t>
            </a:r>
          </a:p>
          <a:p xmlns:a="http://schemas.openxmlformats.org/drawingml/2006/main">
            <a:r>
              <a:t>Snapshot: 030188b4ba27f2dc33fbc4d5a112d3c8cc893e8c</a:t>
            </a:r>
          </a:p>
          <a:p xmlns:a="http://schemas.openxmlformats.org/drawingml/2006/main">
            <a:r>
              <a:t>Bands: Upstream 2, Downstream 2, SDLC 4, PDLC 2</a:t>
            </a:r>
          </a:p>
          <a:p xmlns:a="http://schemas.openxmlformats.org/drawingml/2006/main">
            <a:r>
              <a:t>Strategy supplies purpose, users, boundaries and metric sources. Product Pulse distinguishes engagement from value realization, queries real signals and can be scheduled when requested.</a:t>
            </a:r>
          </a:p>
          <a:p xmlns:a="http://schemas.openxmlformats.org/drawingml/2006/main">
            <a:r>
              <a:t>Boundary: The pulse produces a short report and follow-up questions. A metric report does not itself assign a threshold-based investment decision or adoption responsibility.</a:t>
            </a:r>
          </a:p>
          <a:p xmlns:a="http://schemas.openxmlformats.org/drawingml/2006/main">
            <a:r>
              <a:t>Gap: The evidence collection path is usable; the accountable interpretation and act-on-results path is incomplete.</a:t>
            </a:r>
          </a:p>
          <a:p xmlns:a="http://schemas.openxmlformats.org/drawingml/2006/main">
            <a:r>
              <a:t>Consequence: More timely evidence may become another report unless someone is responsible for changing the bet when results disappoint.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Strategy contract: https://github.com/EveryInc/compound-engineering-plugin/blob/030188b4ba27f2dc33fbc4d5a112d3c8cc893e8c/skills%2Fce-strategy%2FSKILL.md</a:t>
            </a:r>
          </a:p>
          <a:p xmlns:a="http://schemas.openxmlformats.org/drawingml/2006/main">
            <a:r>
              <a:t>Strategy metric definitions: https://github.com/EveryInc/compound-engineering-plugin/blob/030188b4ba27f2dc33fbc4d5a112d3c8cc893e8c/skills%2Fce-strategy%2Freferences%2Fstrategy-template.md</a:t>
            </a:r>
          </a:p>
          <a:p xmlns:a="http://schemas.openxmlformats.org/drawingml/2006/main">
            <a:r>
              <a:t>Pulse setup and activation: https://github.com/EveryInc/compound-engineering-plugin/blob/030188b4ba27f2dc33fbc4d5a112d3c8cc893e8c/skills%2Fce-product-pulse%2FSKILL.md</a:t>
            </a:r>
          </a:p>
          <a:p xmlns:a="http://schemas.openxmlformats.org/drawingml/2006/main">
            <a:r>
              <a:t>Signal selection interview: https://github.com/EveryInc/compound-engineering-plugin/blob/030188b4ba27f2dc33fbc4d5a112d3c8cc893e8c/skills%2Fce-product-pulse%2Freferences%2Finterview.md</a:t>
            </a:r>
          </a:p>
          <a:p xmlns:a="http://schemas.openxmlformats.org/drawingml/2006/main">
            <a:r>
              <a:t>Pulse outputs and follow-ups: https://github.com/EveryInc/compound-engineering-plugin/blob/030188b4ba27f2dc33fbc4d5a112d3c8cc893e8c/skills%2Fce-product-pulse%2Freferences%2Frun.md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Fork comparison: common ancestor 3028a00b6e7b6ba568e49dcb816655894b5a633a; fork 2 unique commits, latest upstream 1378. Not a controlled same-base experiment. Local custom sources: preserved worktree /Users/yuvalyeret/Github/spec-kit-worktrees/spec-kit-yuval-pdlc, templates/spec-template.md, templates/plan-template.md, templates/commands/plan.md, templates/commands/validate.md. No claim of observed organizational execution or business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qualitative assessment of documented support, not Gartner research or observed business performance. Ordinal bands are not equal intervals or an aggregate maturity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Methodology: each point uses the exact integer band in the evidence data. Ties share a marker, no artificial jitter. Boundary between bands 2 and 3. All plot objects are native editable PowerPoint shapes; summary is a native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Upstream</a:t>
            </a:r>
          </a:p>
          <a:p xmlns:a="http://schemas.openxmlformats.org/drawingml/2006/main">
            <a:r>
              <a:t>0: No product framing in inspected scope</a:t>
            </a:r>
          </a:p>
          <a:p xmlns:a="http://schemas.openxmlformats.org/drawingml/2006/main">
            <a:r>
              <a:t>1: Problem/why and requirements framing</a:t>
            </a:r>
          </a:p>
          <a:p xmlns:a="http://schemas.openxmlformats.org/drawingml/2006/main">
            <a:r>
              <a:t>2: Repeatable outcome/option exploration; incomplete investment evidence</a:t>
            </a:r>
          </a:p>
          <a:p xmlns:a="http://schemas.openxmlformats.org/drawingml/2006/main">
            <a:r>
              <a:t>3: Structured discovery shapes a go/no-go or learning/delivery choice</a:t>
            </a:r>
          </a:p>
          <a:p xmlns:a="http://schemas.openxmlformats.org/drawingml/2006/main">
            <a:r>
              <a:t>4: Discovery, evidence thresholds and owned investment decisions form a complete linked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Downstream</a:t>
            </a:r>
          </a:p>
          <a:p xmlns:a="http://schemas.openxmlformats.org/drawingml/2006/main">
            <a:r>
              <a:t>0: Responsibility stops at engineering completion</a:t>
            </a:r>
          </a:p>
          <a:p xmlns:a="http://schemas.openxmlformats.org/drawingml/2006/main">
            <a:r>
              <a:t>1: Rollout/operations prompts or an ad hoc product-validation route</a:t>
            </a:r>
          </a:p>
          <a:p xmlns:a="http://schemas.openxmlformats.org/drawingml/2006/main">
            <a:r>
              <a:t>2: A concrete product-signal collection and review/reporting process</a:t>
            </a:r>
          </a:p>
          <a:p xmlns:a="http://schemas.openxmlformats.org/drawingml/2006/main">
            <a:r>
              <a:t>3: Adoption ownership plus triggered outcome decisions and routed follow-through</a:t>
            </a:r>
          </a:p>
          <a:p xmlns:a="http://schemas.openxmlformats.org/drawingml/2006/main">
            <a:r>
              <a:t>4: Recurring outcome decisions close the loop into subsequent investment and ongoing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SDLC</a:t>
            </a:r>
          </a:p>
          <a:p xmlns:a="http://schemas.openxmlformats.org/drawingml/2006/main">
            <a:r>
              <a:t>0: No delivery process established</a:t>
            </a:r>
          </a:p>
          <a:p xmlns:a="http://schemas.openxmlformats.org/drawingml/2006/main">
            <a:r>
              <a:t>1: Requirements or task guidance only</a:t>
            </a:r>
          </a:p>
          <a:p xmlns:a="http://schemas.openxmlformats.org/drawingml/2006/main">
            <a:r>
              <a:t>2: Linked requirements, implementation and basic checks</a:t>
            </a:r>
          </a:p>
          <a:p xmlns:a="http://schemas.openxmlformats.org/drawingml/2006/main">
            <a:r>
              <a:t>3: Structured execution plus acceptance/verification and change handling</a:t>
            </a:r>
          </a:p>
          <a:p xmlns:a="http://schemas.openxmlformats.org/drawingml/2006/main">
            <a:r>
              <a:t>4: Explicit corrective review/convergence loop with completion criteria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PDLC</a:t>
            </a:r>
          </a:p>
          <a:p xmlns:a="http://schemas.openxmlformats.org/drawingml/2006/main">
            <a:r>
              <a:t>0: No product intent established</a:t>
            </a:r>
          </a:p>
          <a:p xmlns:a="http://schemas.openxmlformats.org/drawingml/2006/main">
            <a:r>
              <a:t>1: Intent framing; delivery remains the completion boundary</a:t>
            </a:r>
          </a:p>
          <a:p xmlns:a="http://schemas.openxmlformats.org/drawingml/2006/main">
            <a:r>
              <a:t>2: Substantial discovery or product-evidence mechanisms; lifecycle links incomplete</a:t>
            </a:r>
          </a:p>
          <a:p xmlns:a="http://schemas.openxmlformats.org/drawingml/2006/main">
            <a:r>
              <a:t>3: Intent → signal → adoption owner → human outcome decision → next action is required</a:t>
            </a:r>
          </a:p>
          <a:p xmlns:a="http://schemas.openxmlformats.org/drawingml/2006/main">
            <a:r>
              <a:t>4: The complete contract recurs across investment, delivery and operation with learning routed forward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Spec Kit — upstream core</a:t>
            </a:r>
          </a:p>
          <a:p xmlns:a="http://schemas.openxmlformats.org/drawingml/2006/main">
            <a:r>
              <a:t>Scope: Default feature workflow; optional Assess excluded from this row</a:t>
            </a:r>
          </a:p>
          <a:p xmlns:a="http://schemas.openxmlformats.org/drawingml/2006/main">
            <a:r>
              <a:t>Snapshot: b1463da80bdba3cf6b019118ed499888758233d2</a:t>
            </a:r>
          </a:p>
          <a:p xmlns:a="http://schemas.openxmlformats.org/drawingml/2006/main">
            <a:r>
              <a:t>Bands: Upstream 1, Downstream 0, SDLC 4, PDLC 1</a:t>
            </a:r>
          </a:p>
          <a:p xmlns:a="http://schemas.openxmlformats.org/drawingml/2006/main">
            <a:r>
              <a:t>Technology-independent success criteria and a repeatable convergence loop preserve specification intent through implementation.</a:t>
            </a:r>
          </a:p>
          <a:p xmlns:a="http://schemas.openxmlformats.org/drawingml/2006/main">
            <a:r>
              <a:t>Boundary: Convergence compares software with spec, plan and tasks; a converged result proceeds to review/PR. Its inventory explicitly excludes post-launch business outcomes.</a:t>
            </a:r>
          </a:p>
          <a:p xmlns:a="http://schemas.openxmlformats.org/drawingml/2006/main">
            <a:r>
              <a:t>Gap: No required owner receives responsibility for adoption evidence or a post-launch product decision.</a:t>
            </a:r>
          </a:p>
          <a:p xmlns:a="http://schemas.openxmlformats.org/drawingml/2006/main">
            <a:r>
              <a:t>Consequence: Correct software can close the investment before anyone checks whether users gained the intended benefit.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Core convergence: scope and completion: https://github.com/github/spec-kit/blob/b1463da80bdba3cf6b019118ed499888758233d2/templates%2Fcommands%2Fconverge.md</a:t>
            </a:r>
          </a:p>
          <a:p xmlns:a="http://schemas.openxmlformats.org/drawingml/2006/main">
            <a:r>
              <a:t>Spec template: success criteria: https://github.com/github/spec-kit/blob/b1463da80bdba3cf6b019118ed499888758233d2/templates%2Fspec-template.md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A+ Spec Kit + Assess</a:t>
            </a:r>
          </a:p>
          <a:p xmlns:a="http://schemas.openxmlformats.org/drawingml/2006/main">
            <a:r>
              <a:t>Scope: Optional Assess installed and selected before core SDD</a:t>
            </a:r>
          </a:p>
          <a:p xmlns:a="http://schemas.openxmlformats.org/drawingml/2006/main">
            <a:r>
              <a:t>Snapshot: b1463da80bdba3cf6b019118ed499888758233d2</a:t>
            </a:r>
          </a:p>
          <a:p xmlns:a="http://schemas.openxmlformats.org/drawingml/2006/main">
            <a:r>
              <a:t>Bands: Upstream 3, Downstream 0, SDLC 4, PDLC 2</a:t>
            </a:r>
          </a:p>
          <a:p xmlns:a="http://schemas.openxmlformats.org/drawingml/2006/main">
            <a:r>
              <a:t>Intake, research, definition, shaping and a human-reviewed go/clarify/kill decision can reduce investment in weak ideas.</a:t>
            </a:r>
          </a:p>
          <a:p xmlns:a="http://schemas.openxmlformats.org/drawingml/2006/main">
            <a:r>
              <a:t>Boundary: An approved assessment hands off manually to specification. Assess is a separate workflow without lifecycle hooks.</a:t>
            </a:r>
          </a:p>
          <a:p xmlns:a="http://schemas.openxmlformats.org/drawingml/2006/main">
            <a:r>
              <a:t>Gap: The front-end investment decision has no matching outcome review after delivery.</a:t>
            </a:r>
          </a:p>
          <a:p xmlns:a="http://schemas.openxmlformats.org/drawingml/2006/main">
            <a:r>
              <a:t>Consequence: Better initial selection does not tell the sponsor when a once-plausible bet has stopped paying off.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Assess workflow boundary: https://github.com/github/spec-kit/blob/b1463da80bdba3cf6b019118ed499888758233d2/extensions%2Fassess%2FREADME.md</a:t>
            </a:r>
          </a:p>
          <a:p xmlns:a="http://schemas.openxmlformats.org/drawingml/2006/main">
            <a:r>
              <a:t>Define: metrics and baseline: https://github.com/github/spec-kit/blob/b1463da80bdba3cf6b019118ed499888758233d2/extensions%2Fassess%2Fcommands%2Fspeckit.assess.define.md</a:t>
            </a:r>
          </a:p>
          <a:p xmlns:a="http://schemas.openxmlformats.org/drawingml/2006/main">
            <a:r>
              <a:t>Decide: evidence and verdict: https://github.com/github/spec-kit/blob/b1463da80bdba3cf6b019118ed499888758233d2/extensions%2Fassess%2Fcommands%2Fspeckit.assess.decide.md</a:t>
            </a:r>
          </a:p>
          <a:p xmlns:a="http://schemas.openxmlformats.org/drawingml/2006/main">
            <a:r>
              <a:t>Human review step: https://github.com/github/spec-kit/blob/b1463da80bdba3cf6b019118ed499888758233d2/workflows%2Fassess%2Fworkflow.yml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 Spec Kit — Yuval PDLC fork</a:t>
            </a:r>
          </a:p>
          <a:p xmlns:a="http://schemas.openxmlformats.org/drawingml/2006/main">
            <a:r>
              <a:t>Scope: Customized specify/plan/tasks/implement/validate path</a:t>
            </a:r>
          </a:p>
          <a:p xmlns:a="http://schemas.openxmlformats.org/drawingml/2006/main">
            <a:r>
              <a:t>Snapshot: cb644d4ed8fb1555761c366f4d3646e90c743bb6</a:t>
            </a:r>
          </a:p>
          <a:p xmlns:a="http://schemas.openxmlformats.org/drawingml/2006/main">
            <a:r>
              <a:t>Bands: Upstream 3, Downstream 1, SDLC 3, PDLC 2</a:t>
            </a:r>
          </a:p>
          <a:p xmlns:a="http://schemas.openxmlformats.org/drawingml/2006/main">
            <a:r>
              <a:t>Conviction and value/usability/feasibility/viability assumptions change the execution strategy. Validation consumes real-world evidence and can recommend a pivot or stop.</a:t>
            </a:r>
          </a:p>
          <a:p xmlns:a="http://schemas.openxmlformats.org/drawingml/2006/main">
            <a:r>
              <a:t>Boundary: A separate validation command can reopen specification; it is not an owned, automatically reached post-delivery review.</a:t>
            </a:r>
          </a:p>
          <a:p xmlns:a="http://schemas.openxmlformats.org/drawingml/2006/main">
            <a:r>
              <a:t>Gap: Adoption ownership, review timing and decision-ready indicator contracts remain unspecified.</a:t>
            </a:r>
          </a:p>
          <a:p xmlns:a="http://schemas.openxmlformats.org/drawingml/2006/main">
            <a:r>
              <a:t>Consequence: Teams can select a learning strategy yet finish delivery without settling the assumption that justified the work.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Full local assessment and evidence: 2026-10-05-spec-kit-pdlc-readiness.html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 Kiro Specs</a:t>
            </a:r>
          </a:p>
          <a:p xmlns:a="http://schemas.openxmlformats.org/drawingml/2006/main">
            <a:r>
              <a:t>Scope: Documented IDE feature-spec workflow, correctness and hooks; not every Kiro product capability</a:t>
            </a:r>
          </a:p>
          <a:p xmlns:a="http://schemas.openxmlformats.org/drawingml/2006/main">
            <a:r>
              <a:t>Snapshot: Official docs retrieved 2026-10-05</a:t>
            </a:r>
          </a:p>
          <a:p xmlns:a="http://schemas.openxmlformats.org/drawingml/2006/main">
            <a:r>
              <a:t>Bands: Upstream 1, Downstream 0, SDLC 3, PDLC 1</a:t>
            </a:r>
          </a:p>
          <a:p xmlns:a="http://schemas.openxmlformats.org/drawingml/2006/main">
            <a:r>
              <a:t>Requirements, design and implementation tasks provide a clear engineering sequence. IDE correctness properties add systematic checks of specified behavior.</a:t>
            </a:r>
          </a:p>
          <a:p xmlns:a="http://schemas.openxmlformats.org/drawingml/2006/main">
            <a:r>
              <a:t>Boundary: Task execution and correctness checks establish implementation conformance. User-configurable hooks extend automation but do not supply a product review contract.</a:t>
            </a:r>
          </a:p>
          <a:p xmlns:a="http://schemas.openxmlformats.org/drawingml/2006/main">
            <a:r>
              <a:t>Gap: The inspected Specs path does not carry product hypotheses, leading signals and an adoption/review owner beyond task completion.</a:t>
            </a:r>
          </a:p>
          <a:p xmlns:a="http://schemas.openxmlformats.org/drawingml/2006/main">
            <a:r>
              <a:t>Consequence: Excellent behavioral checks can validate the chosen solution without establishing that it solves a valuable problem.</a:t>
            </a:r>
          </a:p>
          <a:p xmlns:a="http://schemas.openxmlformats.org/drawingml/2006/main">
            <a:r>
              <a:t>Confidence: Medium; official documentation, no configured installation or runtime audit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Feature-spec sequence: https://kiro.dev/docs/specs/feature-specs/</a:t>
            </a:r>
          </a:p>
          <a:p xmlns:a="http://schemas.openxmlformats.org/drawingml/2006/main">
            <a:r>
              <a:t>Correctness scope and IDE availability: https://kiro.dev/docs/specs/correctness/</a:t>
            </a:r>
          </a:p>
          <a:p xmlns:a="http://schemas.openxmlformats.org/drawingml/2006/main">
            <a:r>
              <a:t>Configurable hooks: https://kiro.dev/docs/hooks/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 OpenSpec</a:t>
            </a:r>
          </a:p>
          <a:p xmlns:a="http://schemas.openxmlformats.org/drawingml/2006/main">
            <a:r>
              <a:t>Scope: Default spec-driven schema; explore/propose/apply/archive, with optional verification</a:t>
            </a:r>
          </a:p>
          <a:p xmlns:a="http://schemas.openxmlformats.org/drawingml/2006/main">
            <a:r>
              <a:t>Snapshot: 2500d6da971336167548b53731a35b2127df35ac</a:t>
            </a:r>
          </a:p>
          <a:p xmlns:a="http://schemas.openxmlformats.org/drawingml/2006/main">
            <a:r>
              <a:t>Bands: Upstream 1, Downstream 0, SDLC 3, PDLC 1</a:t>
            </a:r>
          </a:p>
          <a:p xmlns:a="http://schemas.openxmlformats.org/drawingml/2006/main">
            <a:r>
              <a:t>Proposals, behavioral scenarios and change archives keep implementation and a durable specification aligned. Optional verification checks completeness, correctness and coherence.</a:t>
            </a:r>
          </a:p>
          <a:p xmlns:a="http://schemas.openxmlformats.org/drawingml/2006/main">
            <a:r>
              <a:t>Boundary: Apply completes tasks; archive incorporates the change into long-lived specs. Verification is an additional workflow, and warnings do not necessarily block archiving.</a:t>
            </a:r>
          </a:p>
          <a:p xmlns:a="http://schemas.openxmlformats.org/drawingml/2006/main">
            <a:r>
              <a:t>Gap: The default artifacts explain why a change is wanted but do not require a product measurement or outcome decision after archive.</a:t>
            </a:r>
          </a:p>
          <a:p xmlns:a="http://schemas.openxmlformats.org/drawingml/2006/main">
            <a:r>
              <a:t>Consequence: A coherent history of delivered changes can accumulate without showing which changes improved user outcomes.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Default schema: proposal through apply: https://github.com/Fission-AI/OpenSpec/blob/2500d6da971336167548b53731a35b2127df35ac/schemas%2Fspec-driven%2Fschema.yaml</a:t>
            </a:r>
          </a:p>
          <a:p xmlns:a="http://schemas.openxmlformats.org/drawingml/2006/main">
            <a:r>
              <a:t>Workflow profiles and archive: https://github.com/Fission-AI/OpenSpec/blob/2500d6da971336167548b53731a35b2127df35ac/docs%2Fworkflows.md</a:t>
            </a:r>
          </a:p>
          <a:p xmlns:a="http://schemas.openxmlformats.org/drawingml/2006/main">
            <a:r>
              <a:t>Verify and archive behavior: https://github.com/Fission-AI/OpenSpec/blob/2500d6da971336167548b53731a35b2127df35ac/docs%2Fcommands.md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 BMAD Method</a:t>
            </a:r>
          </a:p>
          <a:p xmlns:a="http://schemas.openxmlformats.org/drawingml/2006/main">
            <a:r>
              <a:t>Scope: Selected product-brief/PRD/spec/build/retrospective path; not a claim about every quick task</a:t>
            </a:r>
          </a:p>
          <a:p xmlns:a="http://schemas.openxmlformats.org/drawingml/2006/main">
            <a:r>
              <a:t>Snapshot: 8f2c13dd0e0073cad84168a679e5c553b2fb30b6</a:t>
            </a:r>
          </a:p>
          <a:p xmlns:a="http://schemas.openxmlformats.org/drawingml/2006/main">
            <a:r>
              <a:t>Bands: Upstream 2, Downstream 1, SDLC 3, PDLC 2</a:t>
            </a:r>
          </a:p>
          <a:p xmlns:a="http://schemas.openxmlformats.org/drawingml/2006/main">
            <a:r>
              <a:t>Product briefs and PRDs connect user pain, business success, assumptions and measurable success. The PRD adds countermetrics and risk-sensitive rollout/operations topics; course correction supports human-approved replanning.</a:t>
            </a:r>
          </a:p>
          <a:p xmlns:a="http://schemas.openxmlformats.org/drawingml/2006/main">
            <a:r>
              <a:t>Boundary: Epic retrospectives inspect integrated behavior and delivery evidence, feeding corrective tickets and a next-epic decision. They do not by themselves require customer-value evidence after launch.</a:t>
            </a:r>
          </a:p>
          <a:p xmlns:a="http://schemas.openxmlformats.org/drawingml/2006/main">
            <a:r>
              <a:t>Gap: Measurement and rollout prompts are not consistently connected to a named owner, review window and product investment response.</a:t>
            </a:r>
          </a:p>
          <a:p xmlns:a="http://schemas.openxmlformats.org/drawingml/2006/main">
            <a:r>
              <a:t>Consequence: A substantial planning and retrospective process can still judge success using delivery evidence while customer adoption remains unresolved.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Discovery and research instructions: https://github.com/bmad-code-org/BMAD-METHOD/blob/8f2c13dd0e0073cad84168a679e5c553b2fb30b6/skills%2Fbmad-product-brief%2FSKILL.md</a:t>
            </a:r>
          </a:p>
          <a:p xmlns:a="http://schemas.openxmlformats.org/drawingml/2006/main">
            <a:r>
              <a:t>Product brief template: https://github.com/bmad-code-org/BMAD-METHOD/blob/8f2c13dd0e0073cad84168a679e5c553b2fb30b6/skills%2Fbmad-product-brief%2Fassets%2Fbrief-template.md</a:t>
            </a:r>
          </a:p>
          <a:p xmlns:a="http://schemas.openxmlformats.org/drawingml/2006/main">
            <a:r>
              <a:t>PRD success metrics and risk adaptations: https://github.com/bmad-code-org/BMAD-METHOD/blob/8f2c13dd0e0073cad84168a679e5c553b2fb30b6/skills%2Fbmad-prd%2Fassets%2Fprd-template.md</a:t>
            </a:r>
          </a:p>
          <a:p xmlns:a="http://schemas.openxmlformats.org/drawingml/2006/main">
            <a:r>
              <a:t>Epic retrospective boundary: https://github.com/bmad-code-org/BMAD-METHOD/blob/8f2c13dd0e0073cad84168a679e5c553b2fb30b6/docs%2Fbuild%2Ffinish-an-epic.md</a:t>
            </a:r>
          </a:p>
          <a:p xmlns:a="http://schemas.openxmlformats.org/drawingml/2006/main">
            <a:r>
              <a:t>Human-approved course correction: https://github.com/bmad-code-org/BMAD-METHOD/blob/8f2c13dd0e0073cad84168a679e5c553b2fb30b6/skills%2Fbmad-correct-course%2FSKILL.md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 Compound Engineering — coding path</a:t>
            </a:r>
          </a:p>
          <a:p xmlns:a="http://schemas.openxmlformats.org/drawingml/2006/main">
            <a:r>
              <a:t>Scope: Brainstorm/plan/work/review/compound; Strategy and Product Pulse not assumed configured</a:t>
            </a:r>
          </a:p>
          <a:p xmlns:a="http://schemas.openxmlformats.org/drawingml/2006/main">
            <a:r>
              <a:t>Snapshot: 030188b4ba27f2dc33fbc4d5a112d3c8cc893e8c</a:t>
            </a:r>
          </a:p>
          <a:p xmlns:a="http://schemas.openxmlformats.org/drawingml/2006/main">
            <a:r>
              <a:t>Bands: Upstream 2, Downstream 1, SDLC 4, PDLC 1</a:t>
            </a:r>
          </a:p>
          <a:p xmlns:a="http://schemas.openxmlformats.org/drawingml/2006/main">
            <a:r>
              <a:t>A unified plan separates outcomes from implementation means, preserves requirements and verification, and carries review findings through fixes and explicit shipping checks.</a:t>
            </a:r>
          </a:p>
          <a:p xmlns:a="http://schemas.openxmlformats.org/drawingml/2006/main">
            <a:r>
              <a:t>Boundary: The inspected shipping contract ends with reviewed work and commit/PR. Operational considerations may enter the plan when material; engineering learning is captured separately.</a:t>
            </a:r>
          </a:p>
          <a:p xmlns:a="http://schemas.openxmlformats.org/drawingml/2006/main">
            <a:r>
              <a:t>Gap: An outcome-shaped objective does not automatically connect shipped work to adoption evidence and a product decision.</a:t>
            </a:r>
          </a:p>
          <a:p xmlns:a="http://schemas.openxmlformats.org/drawingml/2006/main">
            <a:r>
              <a:t>Consequence: Teams can improve how they deliver each change while learning too little about which changes deserve continued investment.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Unified plan: objective, product and verification contracts: https://github.com/EveryInc/compound-engineering-plugin/blob/030188b4ba27f2dc33fbc4d5a112d3c8cc893e8c/skills%2Fce-plan%2Freferences%2Fplan-sections.md</a:t>
            </a:r>
          </a:p>
          <a:p xmlns:a="http://schemas.openxmlformats.org/drawingml/2006/main">
            <a:r>
              <a:t>Shipping: review, fixes and completion: https://github.com/EveryInc/compound-engineering-plugin/blob/030188b4ba27f2dc33fbc4d5a112d3c8cc893e8c/skills%2Fce-work%2Freferences%2Fshipping-workflow.md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F+ Compound + Strategy / Product Pulse</a:t>
            </a:r>
          </a:p>
          <a:p xmlns:a="http://schemas.openxmlformats.org/drawingml/2006/main">
            <a:r>
              <a:t>Scope: Optional strategy and analytics skills explicitly selected and configured alongside coding</a:t>
            </a:r>
          </a:p>
          <a:p xmlns:a="http://schemas.openxmlformats.org/drawingml/2006/main">
            <a:r>
              <a:t>Snapshot: 030188b4ba27f2dc33fbc4d5a112d3c8cc893e8c</a:t>
            </a:r>
          </a:p>
          <a:p xmlns:a="http://schemas.openxmlformats.org/drawingml/2006/main">
            <a:r>
              <a:t>Bands: Upstream 2, Downstream 2, SDLC 4, PDLC 2</a:t>
            </a:r>
          </a:p>
          <a:p xmlns:a="http://schemas.openxmlformats.org/drawingml/2006/main">
            <a:r>
              <a:t>Strategy supplies purpose, users, boundaries and metric sources. Product Pulse distinguishes engagement from value realization, queries real signals and can be scheduled when requested.</a:t>
            </a:r>
          </a:p>
          <a:p xmlns:a="http://schemas.openxmlformats.org/drawingml/2006/main">
            <a:r>
              <a:t>Boundary: The pulse produces a short report and follow-up questions. A metric report does not itself assign a threshold-based investment decision or adoption responsibility.</a:t>
            </a:r>
          </a:p>
          <a:p xmlns:a="http://schemas.openxmlformats.org/drawingml/2006/main">
            <a:r>
              <a:t>Gap: The evidence collection path is usable; the accountable interpretation and act-on-results path is incomplete.</a:t>
            </a:r>
          </a:p>
          <a:p xmlns:a="http://schemas.openxmlformats.org/drawingml/2006/main">
            <a:r>
              <a:t>Consequence: More timely evidence may become another report unless someone is responsible for changing the bet when results disappoint.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Strategy contract: https://github.com/EveryInc/compound-engineering-plugin/blob/030188b4ba27f2dc33fbc4d5a112d3c8cc893e8c/skills%2Fce-strategy%2FSKILL.md</a:t>
            </a:r>
          </a:p>
          <a:p xmlns:a="http://schemas.openxmlformats.org/drawingml/2006/main">
            <a:r>
              <a:t>Strategy metric definitions: https://github.com/EveryInc/compound-engineering-plugin/blob/030188b4ba27f2dc33fbc4d5a112d3c8cc893e8c/skills%2Fce-strategy%2Freferences%2Fstrategy-template.md</a:t>
            </a:r>
          </a:p>
          <a:p xmlns:a="http://schemas.openxmlformats.org/drawingml/2006/main">
            <a:r>
              <a:t>Pulse setup and activation: https://github.com/EveryInc/compound-engineering-plugin/blob/030188b4ba27f2dc33fbc4d5a112d3c8cc893e8c/skills%2Fce-product-pulse%2FSKILL.md</a:t>
            </a:r>
          </a:p>
          <a:p xmlns:a="http://schemas.openxmlformats.org/drawingml/2006/main">
            <a:r>
              <a:t>Signal selection interview: https://github.com/EveryInc/compound-engineering-plugin/blob/030188b4ba27f2dc33fbc4d5a112d3c8cc893e8c/skills%2Fce-product-pulse%2Freferences%2Finterview.md</a:t>
            </a:r>
          </a:p>
          <a:p xmlns:a="http://schemas.openxmlformats.org/drawingml/2006/main">
            <a:r>
              <a:t>Pulse outputs and follow-ups: https://github.com/EveryInc/compound-engineering-plugin/blob/030188b4ba27f2dc33fbc4d5a112d3c8cc893e8c/skills%2Fce-product-pulse%2Freferences%2Frun.md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Fork comparison: common ancestor 3028a00b6e7b6ba568e49dcb816655894b5a633a; fork 2 unique commits, latest upstream 1378. Not a controlled same-base experiment. Local custom sources: preserved worktree /Users/yuvalyeret/Github/spec-kit-worktrees/spec-kit-yuval-pdlc, templates/spec-template.md, templates/plan-template.md, templates/commands/plan.md, templates/commands/validate.md. No claim of observed organizational execution or business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qualitative assessment of documented support, not Gartner research or observed business performance. Ordinal bands are not equal intervals or an aggregate maturity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Methodology: each point uses the exact integer band in the evidence data. Ties share a marker, no artificial jitter. Boundary between bands 2 and 3. All plot objects are native editable PowerPoint shapes; summary is a native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Upstream</a:t>
            </a:r>
          </a:p>
          <a:p xmlns:a="http://schemas.openxmlformats.org/drawingml/2006/main">
            <a:r>
              <a:t>0: No product framing in inspected scope</a:t>
            </a:r>
          </a:p>
          <a:p xmlns:a="http://schemas.openxmlformats.org/drawingml/2006/main">
            <a:r>
              <a:t>1: Problem/why and requirements framing</a:t>
            </a:r>
          </a:p>
          <a:p xmlns:a="http://schemas.openxmlformats.org/drawingml/2006/main">
            <a:r>
              <a:t>2: Repeatable outcome/option exploration; incomplete investment evidence</a:t>
            </a:r>
          </a:p>
          <a:p xmlns:a="http://schemas.openxmlformats.org/drawingml/2006/main">
            <a:r>
              <a:t>3: Structured discovery shapes a go/no-go or learning/delivery choice</a:t>
            </a:r>
          </a:p>
          <a:p xmlns:a="http://schemas.openxmlformats.org/drawingml/2006/main">
            <a:r>
              <a:t>4: Discovery, evidence thresholds and owned investment decisions form a complete linked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Downstream</a:t>
            </a:r>
          </a:p>
          <a:p xmlns:a="http://schemas.openxmlformats.org/drawingml/2006/main">
            <a:r>
              <a:t>0: Responsibility stops at engineering completion</a:t>
            </a:r>
          </a:p>
          <a:p xmlns:a="http://schemas.openxmlformats.org/drawingml/2006/main">
            <a:r>
              <a:t>1: Rollout/operations prompts or an ad hoc product-validation route</a:t>
            </a:r>
          </a:p>
          <a:p xmlns:a="http://schemas.openxmlformats.org/drawingml/2006/main">
            <a:r>
              <a:t>2: A concrete product-signal collection and review/reporting process</a:t>
            </a:r>
          </a:p>
          <a:p xmlns:a="http://schemas.openxmlformats.org/drawingml/2006/main">
            <a:r>
              <a:t>3: Adoption ownership plus triggered outcome decisions and routed follow-through</a:t>
            </a:r>
          </a:p>
          <a:p xmlns:a="http://schemas.openxmlformats.org/drawingml/2006/main">
            <a:r>
              <a:t>4: Recurring outcome decisions close the loop into subsequent investment and ongoing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SDLC</a:t>
            </a:r>
          </a:p>
          <a:p xmlns:a="http://schemas.openxmlformats.org/drawingml/2006/main">
            <a:r>
              <a:t>0: No delivery process established</a:t>
            </a:r>
          </a:p>
          <a:p xmlns:a="http://schemas.openxmlformats.org/drawingml/2006/main">
            <a:r>
              <a:t>1: Requirements or task guidance only</a:t>
            </a:r>
          </a:p>
          <a:p xmlns:a="http://schemas.openxmlformats.org/drawingml/2006/main">
            <a:r>
              <a:t>2: Linked requirements, implementation and basic checks</a:t>
            </a:r>
          </a:p>
          <a:p xmlns:a="http://schemas.openxmlformats.org/drawingml/2006/main">
            <a:r>
              <a:t>3: Structured execution plus acceptance/verification and change handling</a:t>
            </a:r>
          </a:p>
          <a:p xmlns:a="http://schemas.openxmlformats.org/drawingml/2006/main">
            <a:r>
              <a:t>4: Explicit corrective review/convergence loop with completion criteria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PDLC</a:t>
            </a:r>
          </a:p>
          <a:p xmlns:a="http://schemas.openxmlformats.org/drawingml/2006/main">
            <a:r>
              <a:t>0: No product intent established</a:t>
            </a:r>
          </a:p>
          <a:p xmlns:a="http://schemas.openxmlformats.org/drawingml/2006/main">
            <a:r>
              <a:t>1: Intent framing; delivery remains the completion boundary</a:t>
            </a:r>
          </a:p>
          <a:p xmlns:a="http://schemas.openxmlformats.org/drawingml/2006/main">
            <a:r>
              <a:t>2: Substantial discovery or product-evidence mechanisms; lifecycle links incomplete</a:t>
            </a:r>
          </a:p>
          <a:p xmlns:a="http://schemas.openxmlformats.org/drawingml/2006/main">
            <a:r>
              <a:t>3: Intent → signal → adoption owner → human outcome decision → next action is required</a:t>
            </a:r>
          </a:p>
          <a:p xmlns:a="http://schemas.openxmlformats.org/drawingml/2006/main">
            <a:r>
              <a:t>4: The complete contract recurs across investment, delivery and operation with learning routed forward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Spec Kit — upstream core</a:t>
            </a:r>
          </a:p>
          <a:p xmlns:a="http://schemas.openxmlformats.org/drawingml/2006/main">
            <a:r>
              <a:t>Scope: Default feature workflow; optional Assess excluded from this row</a:t>
            </a:r>
          </a:p>
          <a:p xmlns:a="http://schemas.openxmlformats.org/drawingml/2006/main">
            <a:r>
              <a:t>Snapshot: b1463da80bdba3cf6b019118ed499888758233d2</a:t>
            </a:r>
          </a:p>
          <a:p xmlns:a="http://schemas.openxmlformats.org/drawingml/2006/main">
            <a:r>
              <a:t>Bands: Upstream 1, Downstream 0, SDLC 4, PDLC 1</a:t>
            </a:r>
          </a:p>
          <a:p xmlns:a="http://schemas.openxmlformats.org/drawingml/2006/main">
            <a:r>
              <a:t>Technology-independent success criteria and a repeatable convergence loop preserve specification intent through implementation.</a:t>
            </a:r>
          </a:p>
          <a:p xmlns:a="http://schemas.openxmlformats.org/drawingml/2006/main">
            <a:r>
              <a:t>Boundary: Convergence compares software with spec, plan and tasks; a converged result proceeds to review/PR. Its inventory explicitly excludes post-launch business outcomes.</a:t>
            </a:r>
          </a:p>
          <a:p xmlns:a="http://schemas.openxmlformats.org/drawingml/2006/main">
            <a:r>
              <a:t>Gap: No required owner receives responsibility for adoption evidence or a post-launch product decision.</a:t>
            </a:r>
          </a:p>
          <a:p xmlns:a="http://schemas.openxmlformats.org/drawingml/2006/main">
            <a:r>
              <a:t>Consequence: Correct software can close the investment before anyone checks whether users gained the intended benefit.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Core convergence: scope and completion: https://github.com/github/spec-kit/blob/b1463da80bdba3cf6b019118ed499888758233d2/templates%2Fcommands%2Fconverge.md</a:t>
            </a:r>
          </a:p>
          <a:p xmlns:a="http://schemas.openxmlformats.org/drawingml/2006/main">
            <a:r>
              <a:t>Spec template: success criteria: https://github.com/github/spec-kit/blob/b1463da80bdba3cf6b019118ed499888758233d2/templates%2Fspec-template.md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A+ Spec Kit + Assess</a:t>
            </a:r>
          </a:p>
          <a:p xmlns:a="http://schemas.openxmlformats.org/drawingml/2006/main">
            <a:r>
              <a:t>Scope: Optional Assess installed and selected before core SDD</a:t>
            </a:r>
          </a:p>
          <a:p xmlns:a="http://schemas.openxmlformats.org/drawingml/2006/main">
            <a:r>
              <a:t>Snapshot: b1463da80bdba3cf6b019118ed499888758233d2</a:t>
            </a:r>
          </a:p>
          <a:p xmlns:a="http://schemas.openxmlformats.org/drawingml/2006/main">
            <a:r>
              <a:t>Bands: Upstream 3, Downstream 0, SDLC 4, PDLC 2</a:t>
            </a:r>
          </a:p>
          <a:p xmlns:a="http://schemas.openxmlformats.org/drawingml/2006/main">
            <a:r>
              <a:t>Intake, research, definition, shaping and a human-reviewed go/clarify/kill decision can reduce investment in weak ideas.</a:t>
            </a:r>
          </a:p>
          <a:p xmlns:a="http://schemas.openxmlformats.org/drawingml/2006/main">
            <a:r>
              <a:t>Boundary: An approved assessment hands off manually to specification. Assess is a separate workflow without lifecycle hooks.</a:t>
            </a:r>
          </a:p>
          <a:p xmlns:a="http://schemas.openxmlformats.org/drawingml/2006/main">
            <a:r>
              <a:t>Gap: The front-end investment decision has no matching outcome review after delivery.</a:t>
            </a:r>
          </a:p>
          <a:p xmlns:a="http://schemas.openxmlformats.org/drawingml/2006/main">
            <a:r>
              <a:t>Consequence: Better initial selection does not tell the sponsor when a once-plausible bet has stopped paying off.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Assess workflow boundary: https://github.com/github/spec-kit/blob/b1463da80bdba3cf6b019118ed499888758233d2/extensions%2Fassess%2FREADME.md</a:t>
            </a:r>
          </a:p>
          <a:p xmlns:a="http://schemas.openxmlformats.org/drawingml/2006/main">
            <a:r>
              <a:t>Define: metrics and baseline: https://github.com/github/spec-kit/blob/b1463da80bdba3cf6b019118ed499888758233d2/extensions%2Fassess%2Fcommands%2Fspeckit.assess.define.md</a:t>
            </a:r>
          </a:p>
          <a:p xmlns:a="http://schemas.openxmlformats.org/drawingml/2006/main">
            <a:r>
              <a:t>Decide: evidence and verdict: https://github.com/github/spec-kit/blob/b1463da80bdba3cf6b019118ed499888758233d2/extensions%2Fassess%2Fcommands%2Fspeckit.assess.decide.md</a:t>
            </a:r>
          </a:p>
          <a:p xmlns:a="http://schemas.openxmlformats.org/drawingml/2006/main">
            <a:r>
              <a:t>Human review step: https://github.com/github/spec-kit/blob/b1463da80bdba3cf6b019118ed499888758233d2/workflows%2Fassess%2Fworkflow.yml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 Spec Kit — Yuval PDLC fork</a:t>
            </a:r>
          </a:p>
          <a:p xmlns:a="http://schemas.openxmlformats.org/drawingml/2006/main">
            <a:r>
              <a:t>Scope: Customized specify/plan/tasks/implement/validate path</a:t>
            </a:r>
          </a:p>
          <a:p xmlns:a="http://schemas.openxmlformats.org/drawingml/2006/main">
            <a:r>
              <a:t>Snapshot: cb644d4ed8fb1555761c366f4d3646e90c743bb6</a:t>
            </a:r>
          </a:p>
          <a:p xmlns:a="http://schemas.openxmlformats.org/drawingml/2006/main">
            <a:r>
              <a:t>Bands: Upstream 3, Downstream 1, SDLC 3, PDLC 2</a:t>
            </a:r>
          </a:p>
          <a:p xmlns:a="http://schemas.openxmlformats.org/drawingml/2006/main">
            <a:r>
              <a:t>Conviction and value/usability/feasibility/viability assumptions change the execution strategy. Validation consumes real-world evidence and can recommend a pivot or stop.</a:t>
            </a:r>
          </a:p>
          <a:p xmlns:a="http://schemas.openxmlformats.org/drawingml/2006/main">
            <a:r>
              <a:t>Boundary: A separate validation command can reopen specification; it is not an owned, automatically reached post-delivery review.</a:t>
            </a:r>
          </a:p>
          <a:p xmlns:a="http://schemas.openxmlformats.org/drawingml/2006/main">
            <a:r>
              <a:t>Gap: Adoption ownership, review timing and decision-ready indicator contracts remain unspecified.</a:t>
            </a:r>
          </a:p>
          <a:p xmlns:a="http://schemas.openxmlformats.org/drawingml/2006/main">
            <a:r>
              <a:t>Consequence: Teams can select a learning strategy yet finish delivery without settling the assumption that justified the work.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Full local assessment and evidence: 2026-10-05-spec-kit-pdlc-readiness.html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 Kiro Specs</a:t>
            </a:r>
          </a:p>
          <a:p xmlns:a="http://schemas.openxmlformats.org/drawingml/2006/main">
            <a:r>
              <a:t>Scope: Documented IDE feature-spec workflow, correctness and hooks; not every Kiro product capability</a:t>
            </a:r>
          </a:p>
          <a:p xmlns:a="http://schemas.openxmlformats.org/drawingml/2006/main">
            <a:r>
              <a:t>Snapshot: Official docs retrieved 2026-10-05</a:t>
            </a:r>
          </a:p>
          <a:p xmlns:a="http://schemas.openxmlformats.org/drawingml/2006/main">
            <a:r>
              <a:t>Bands: Upstream 1, Downstream 0, SDLC 3, PDLC 1</a:t>
            </a:r>
          </a:p>
          <a:p xmlns:a="http://schemas.openxmlformats.org/drawingml/2006/main">
            <a:r>
              <a:t>Requirements, design and implementation tasks provide a clear engineering sequence. IDE correctness properties add systematic checks of specified behavior.</a:t>
            </a:r>
          </a:p>
          <a:p xmlns:a="http://schemas.openxmlformats.org/drawingml/2006/main">
            <a:r>
              <a:t>Boundary: Task execution and correctness checks establish implementation conformance. User-configurable hooks extend automation but do not supply a product review contract.</a:t>
            </a:r>
          </a:p>
          <a:p xmlns:a="http://schemas.openxmlformats.org/drawingml/2006/main">
            <a:r>
              <a:t>Gap: The inspected Specs path does not carry product hypotheses, leading signals and an adoption/review owner beyond task completion.</a:t>
            </a:r>
          </a:p>
          <a:p xmlns:a="http://schemas.openxmlformats.org/drawingml/2006/main">
            <a:r>
              <a:t>Consequence: Excellent behavioral checks can validate the chosen solution without establishing that it solves a valuable problem.</a:t>
            </a:r>
          </a:p>
          <a:p xmlns:a="http://schemas.openxmlformats.org/drawingml/2006/main">
            <a:r>
              <a:t>Confidence: Medium; official documentation, no configured installation or runtime audit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Feature-spec sequence: https://kiro.dev/docs/specs/feature-specs/</a:t>
            </a:r>
          </a:p>
          <a:p xmlns:a="http://schemas.openxmlformats.org/drawingml/2006/main">
            <a:r>
              <a:t>Correctness scope and IDE availability: https://kiro.dev/docs/specs/correctness/</a:t>
            </a:r>
          </a:p>
          <a:p xmlns:a="http://schemas.openxmlformats.org/drawingml/2006/main">
            <a:r>
              <a:t>Configurable hooks: https://kiro.dev/docs/hooks/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 OpenSpec</a:t>
            </a:r>
          </a:p>
          <a:p xmlns:a="http://schemas.openxmlformats.org/drawingml/2006/main">
            <a:r>
              <a:t>Scope: Default spec-driven schema; explore/propose/apply/archive, with optional verification</a:t>
            </a:r>
          </a:p>
          <a:p xmlns:a="http://schemas.openxmlformats.org/drawingml/2006/main">
            <a:r>
              <a:t>Snapshot: 2500d6da971336167548b53731a35b2127df35ac</a:t>
            </a:r>
          </a:p>
          <a:p xmlns:a="http://schemas.openxmlformats.org/drawingml/2006/main">
            <a:r>
              <a:t>Bands: Upstream 1, Downstream 0, SDLC 3, PDLC 1</a:t>
            </a:r>
          </a:p>
          <a:p xmlns:a="http://schemas.openxmlformats.org/drawingml/2006/main">
            <a:r>
              <a:t>Proposals, behavioral scenarios and change archives keep implementation and a durable specification aligned. Optional verification checks completeness, correctness and coherence.</a:t>
            </a:r>
          </a:p>
          <a:p xmlns:a="http://schemas.openxmlformats.org/drawingml/2006/main">
            <a:r>
              <a:t>Boundary: Apply completes tasks; archive incorporates the change into long-lived specs. Verification is an additional workflow, and warnings do not necessarily block archiving.</a:t>
            </a:r>
          </a:p>
          <a:p xmlns:a="http://schemas.openxmlformats.org/drawingml/2006/main">
            <a:r>
              <a:t>Gap: The default artifacts explain why a change is wanted but do not require a product measurement or outcome decision after archive.</a:t>
            </a:r>
          </a:p>
          <a:p xmlns:a="http://schemas.openxmlformats.org/drawingml/2006/main">
            <a:r>
              <a:t>Consequence: A coherent history of delivered changes can accumulate without showing which changes improved user outcomes.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Default schema: proposal through apply: https://github.com/Fission-AI/OpenSpec/blob/2500d6da971336167548b53731a35b2127df35ac/schemas%2Fspec-driven%2Fschema.yaml</a:t>
            </a:r>
          </a:p>
          <a:p xmlns:a="http://schemas.openxmlformats.org/drawingml/2006/main">
            <a:r>
              <a:t>Workflow profiles and archive: https://github.com/Fission-AI/OpenSpec/blob/2500d6da971336167548b53731a35b2127df35ac/docs%2Fworkflows.md</a:t>
            </a:r>
          </a:p>
          <a:p xmlns:a="http://schemas.openxmlformats.org/drawingml/2006/main">
            <a:r>
              <a:t>Verify and archive behavior: https://github.com/Fission-AI/OpenSpec/blob/2500d6da971336167548b53731a35b2127df35ac/docs%2Fcommands.md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 BMAD Method</a:t>
            </a:r>
          </a:p>
          <a:p xmlns:a="http://schemas.openxmlformats.org/drawingml/2006/main">
            <a:r>
              <a:t>Scope: Selected product-brief/PRD/spec/build/retrospective path; not a claim about every quick task</a:t>
            </a:r>
          </a:p>
          <a:p xmlns:a="http://schemas.openxmlformats.org/drawingml/2006/main">
            <a:r>
              <a:t>Snapshot: 8f2c13dd0e0073cad84168a679e5c553b2fb30b6</a:t>
            </a:r>
          </a:p>
          <a:p xmlns:a="http://schemas.openxmlformats.org/drawingml/2006/main">
            <a:r>
              <a:t>Bands: Upstream 2, Downstream 1, SDLC 3, PDLC 2</a:t>
            </a:r>
          </a:p>
          <a:p xmlns:a="http://schemas.openxmlformats.org/drawingml/2006/main">
            <a:r>
              <a:t>Product briefs and PRDs connect user pain, business success, assumptions and measurable success. The PRD adds countermetrics and risk-sensitive rollout/operations topics; course correction supports human-approved replanning.</a:t>
            </a:r>
          </a:p>
          <a:p xmlns:a="http://schemas.openxmlformats.org/drawingml/2006/main">
            <a:r>
              <a:t>Boundary: Epic retrospectives inspect integrated behavior and delivery evidence, feeding corrective tickets and a next-epic decision. They do not by themselves require customer-value evidence after launch.</a:t>
            </a:r>
          </a:p>
          <a:p xmlns:a="http://schemas.openxmlformats.org/drawingml/2006/main">
            <a:r>
              <a:t>Gap: Measurement and rollout prompts are not consistently connected to a named owner, review window and product investment response.</a:t>
            </a:r>
          </a:p>
          <a:p xmlns:a="http://schemas.openxmlformats.org/drawingml/2006/main">
            <a:r>
              <a:t>Consequence: A substantial planning and retrospective process can still judge success using delivery evidence while customer adoption remains unresolved.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Discovery and research instructions: https://github.com/bmad-code-org/BMAD-METHOD/blob/8f2c13dd0e0073cad84168a679e5c553b2fb30b6/skills%2Fbmad-product-brief%2FSKILL.md</a:t>
            </a:r>
          </a:p>
          <a:p xmlns:a="http://schemas.openxmlformats.org/drawingml/2006/main">
            <a:r>
              <a:t>Product brief template: https://github.com/bmad-code-org/BMAD-METHOD/blob/8f2c13dd0e0073cad84168a679e5c553b2fb30b6/skills%2Fbmad-product-brief%2Fassets%2Fbrief-template.md</a:t>
            </a:r>
          </a:p>
          <a:p xmlns:a="http://schemas.openxmlformats.org/drawingml/2006/main">
            <a:r>
              <a:t>PRD success metrics and risk adaptations: https://github.com/bmad-code-org/BMAD-METHOD/blob/8f2c13dd0e0073cad84168a679e5c553b2fb30b6/skills%2Fbmad-prd%2Fassets%2Fprd-template.md</a:t>
            </a:r>
          </a:p>
          <a:p xmlns:a="http://schemas.openxmlformats.org/drawingml/2006/main">
            <a:r>
              <a:t>Epic retrospective boundary: https://github.com/bmad-code-org/BMAD-METHOD/blob/8f2c13dd0e0073cad84168a679e5c553b2fb30b6/docs%2Fbuild%2Ffinish-an-epic.md</a:t>
            </a:r>
          </a:p>
          <a:p xmlns:a="http://schemas.openxmlformats.org/drawingml/2006/main">
            <a:r>
              <a:t>Human-approved course correction: https://github.com/bmad-code-org/BMAD-METHOD/blob/8f2c13dd0e0073cad84168a679e5c553b2fb30b6/skills%2Fbmad-correct-course%2FSKILL.md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 Compound Engineering — coding path</a:t>
            </a:r>
          </a:p>
          <a:p xmlns:a="http://schemas.openxmlformats.org/drawingml/2006/main">
            <a:r>
              <a:t>Scope: Brainstorm/plan/work/review/compound; Strategy and Product Pulse not assumed configured</a:t>
            </a:r>
          </a:p>
          <a:p xmlns:a="http://schemas.openxmlformats.org/drawingml/2006/main">
            <a:r>
              <a:t>Snapshot: 030188b4ba27f2dc33fbc4d5a112d3c8cc893e8c</a:t>
            </a:r>
          </a:p>
          <a:p xmlns:a="http://schemas.openxmlformats.org/drawingml/2006/main">
            <a:r>
              <a:t>Bands: Upstream 2, Downstream 1, SDLC 4, PDLC 1</a:t>
            </a:r>
          </a:p>
          <a:p xmlns:a="http://schemas.openxmlformats.org/drawingml/2006/main">
            <a:r>
              <a:t>A unified plan separates outcomes from implementation means, preserves requirements and verification, and carries review findings through fixes and explicit shipping checks.</a:t>
            </a:r>
          </a:p>
          <a:p xmlns:a="http://schemas.openxmlformats.org/drawingml/2006/main">
            <a:r>
              <a:t>Boundary: The inspected shipping contract ends with reviewed work and commit/PR. Operational considerations may enter the plan when material; engineering learning is captured separately.</a:t>
            </a:r>
          </a:p>
          <a:p xmlns:a="http://schemas.openxmlformats.org/drawingml/2006/main">
            <a:r>
              <a:t>Gap: An outcome-shaped objective does not automatically connect shipped work to adoption evidence and a product decision.</a:t>
            </a:r>
          </a:p>
          <a:p xmlns:a="http://schemas.openxmlformats.org/drawingml/2006/main">
            <a:r>
              <a:t>Consequence: Teams can improve how they deliver each change while learning too little about which changes deserve continued investment.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Unified plan: objective, product and verification contracts: https://github.com/EveryInc/compound-engineering-plugin/blob/030188b4ba27f2dc33fbc4d5a112d3c8cc893e8c/skills%2Fce-plan%2Freferences%2Fplan-sections.md</a:t>
            </a:r>
          </a:p>
          <a:p xmlns:a="http://schemas.openxmlformats.org/drawingml/2006/main">
            <a:r>
              <a:t>Shipping: review, fixes and completion: https://github.com/EveryInc/compound-engineering-plugin/blob/030188b4ba27f2dc33fbc4d5a112d3c8cc893e8c/skills%2Fce-work%2Freferences%2Fshipping-workflow.md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F+ Compound + Strategy / Product Pulse</a:t>
            </a:r>
          </a:p>
          <a:p xmlns:a="http://schemas.openxmlformats.org/drawingml/2006/main">
            <a:r>
              <a:t>Scope: Optional strategy and analytics skills explicitly selected and configured alongside coding</a:t>
            </a:r>
          </a:p>
          <a:p xmlns:a="http://schemas.openxmlformats.org/drawingml/2006/main">
            <a:r>
              <a:t>Snapshot: 030188b4ba27f2dc33fbc4d5a112d3c8cc893e8c</a:t>
            </a:r>
          </a:p>
          <a:p xmlns:a="http://schemas.openxmlformats.org/drawingml/2006/main">
            <a:r>
              <a:t>Bands: Upstream 2, Downstream 2, SDLC 4, PDLC 2</a:t>
            </a:r>
          </a:p>
          <a:p xmlns:a="http://schemas.openxmlformats.org/drawingml/2006/main">
            <a:r>
              <a:t>Strategy supplies purpose, users, boundaries and metric sources. Product Pulse distinguishes engagement from value realization, queries real signals and can be scheduled when requested.</a:t>
            </a:r>
          </a:p>
          <a:p xmlns:a="http://schemas.openxmlformats.org/drawingml/2006/main">
            <a:r>
              <a:t>Boundary: The pulse produces a short report and follow-up questions. A metric report does not itself assign a threshold-based investment decision or adoption responsibility.</a:t>
            </a:r>
          </a:p>
          <a:p xmlns:a="http://schemas.openxmlformats.org/drawingml/2006/main">
            <a:r>
              <a:t>Gap: The evidence collection path is usable; the accountable interpretation and act-on-results path is incomplete.</a:t>
            </a:r>
          </a:p>
          <a:p xmlns:a="http://schemas.openxmlformats.org/drawingml/2006/main">
            <a:r>
              <a:t>Consequence: More timely evidence may become another report unless someone is responsible for changing the bet when results disappoint.</a:t>
            </a:r>
          </a:p>
          <a:p xmlns:a="http://schemas.openxmlformats.org/drawingml/2006/main">
            <a:r>
              <a:t>Confidence: High within inspected path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Strategy contract: https://github.com/EveryInc/compound-engineering-plugin/blob/030188b4ba27f2dc33fbc4d5a112d3c8cc893e8c/skills%2Fce-strategy%2FSKILL.md</a:t>
            </a:r>
          </a:p>
          <a:p xmlns:a="http://schemas.openxmlformats.org/drawingml/2006/main">
            <a:r>
              <a:t>Strategy metric definitions: https://github.com/EveryInc/compound-engineering-plugin/blob/030188b4ba27f2dc33fbc4d5a112d3c8cc893e8c/skills%2Fce-strategy%2Freferences%2Fstrategy-template.md</a:t>
            </a:r>
          </a:p>
          <a:p xmlns:a="http://schemas.openxmlformats.org/drawingml/2006/main">
            <a:r>
              <a:t>Pulse setup and activation: https://github.com/EveryInc/compound-engineering-plugin/blob/030188b4ba27f2dc33fbc4d5a112d3c8cc893e8c/skills%2Fce-product-pulse%2FSKILL.md</a:t>
            </a:r>
          </a:p>
          <a:p xmlns:a="http://schemas.openxmlformats.org/drawingml/2006/main">
            <a:r>
              <a:t>Signal selection interview: https://github.com/EveryInc/compound-engineering-plugin/blob/030188b4ba27f2dc33fbc4d5a112d3c8cc893e8c/skills%2Fce-product-pulse%2Freferences%2Finterview.md</a:t>
            </a:r>
          </a:p>
          <a:p xmlns:a="http://schemas.openxmlformats.org/drawingml/2006/main">
            <a:r>
              <a:t>Pulse outputs and follow-ups: https://github.com/EveryInc/compound-engineering-plugin/blob/030188b4ba27f2dc33fbc4d5a112d3c8cc893e8c/skills%2Fce-product-pulse%2Freferences%2Frun.md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Fork comparison: common ancestor 3028a00b6e7b6ba568e49dcb816655894b5a633a; fork 2 unique commits, latest upstream 1378. Not a controlled same-base experiment. Local custom sources: preserved worktree /Users/yuvalyeret/Github/spec-kit-worktrees/spec-kit-yuval-pdlc, templates/spec-template.md, templates/plan-template.md, templates/commands/plan.md, templates/commands/validate.md. No claim of observed organizational execution or business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bed5480154e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1093b33c014c58" /><Relationship Type="http://schemas.openxmlformats.org/officeDocument/2006/relationships/slideLayout" Target="/ppt/slideLayouts/slideLayout1.xml" Id="R8874923719d843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74923719d843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14af9c4bf4669" /><Relationship Type="http://schemas.openxmlformats.org/officeDocument/2006/relationships/notesSlide" Target="/ppt/notesSlides/notesSlide1.xml" Id="Rf727b36d499740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7a271f59d4fdd" /><Relationship Type="http://schemas.openxmlformats.org/officeDocument/2006/relationships/notesSlide" Target="/ppt/notesSlides/notesSlide2.xml" Id="Rd551a94cc75944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0b576e5b5480b" /><Relationship Type="http://schemas.openxmlformats.org/officeDocument/2006/relationships/notesSlide" Target="/ppt/notesSlides/notesSlide3.xml" Id="Ra8128dbf931449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1C9800-A0A0-4104-A195-A4D3459F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Product learning is strongest before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1A8F6-4E6D-4181-B041-6D3BD0E6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Upstream × Downstream · strength of the documented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A2C50-307D-4542-B681-D549B28B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Independent qualitative assessment · 5 Oct 2026 · Not Gartner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FC5F7-7EFD-4823-BD12-ABEDE77F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40963-8FA5-4FF0-AC97-A9A833ED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677227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B05CB-B815-4749-AD35-871F96B4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85950"/>
            <a:ext cx="3009900" cy="157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4FF30-B91C-45B9-BA9C-7BDBA203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B76C6-A2F6-4CBF-8C9A-57A7BE0B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38775"/>
            <a:ext cx="6772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F3C6B-81DF-4FB6-AE47-48EC9D13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044BB-D514-40EE-A543-B69EF267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24475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A06D6-E993-431E-BAE4-76223342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85950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642CE-3F8C-48B8-BF15-40815503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6772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CAB4A-8B40-4A2F-8E5C-F5CE4A47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05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5CA7F-D917-4B83-BFB0-629AF76F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33900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5F629-F378-4BA3-85C3-95E786F8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4C3A9-3670-4624-9C02-132A2183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6772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DF140-76BE-4E9D-AC23-74C40C6E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05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C29E5-D95D-4DFE-B856-74EB23A2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43325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14809-BEA5-411D-892C-5CD50CF5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85950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F35185-8AE6-4232-A20A-031E0757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6772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F1462-9F90-4E3B-BF75-69C965A6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505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EA243-380A-4557-BD0A-E72BA249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0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1735F-768B-4FFA-ABDA-885C47DC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4A14C-C6E0-4EF8-8314-E217B1C7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6772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12C240-DD40-43A9-B457-B91E75AA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05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2AA24-A128-4D0A-AA40-5284082D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62175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A18AE-D07E-47AB-92C0-017CB056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85950"/>
            <a:ext cx="19050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DB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5F6ECF-DC0C-4370-8420-56AC4771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2338"/>
            <a:ext cx="6772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DB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74307B-AF63-41DF-9E36-C53E0C2E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742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Downstream 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3EB4F3-27D2-4100-8CC2-F0F3EAC7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57875"/>
            <a:ext cx="390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Upstream 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61E8B2-0E6D-4B3F-BF19-47E16667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Downstream support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A7E2F0-25DF-4AFC-8073-4309843A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952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Stronger on both sides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E82E7C-AA6C-43E3-8817-197490D6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3295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Limited product lifecycle support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402B39-30E5-47FB-BFCA-A781A4CF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1719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Stronger discovery support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FA0360-96BE-4F72-8002-98FDACAB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37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9525">
            <a:solidFill>
              <a:srgbClr val="007F8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76F6BB-50CA-4C50-AC53-0A0A94F3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10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A · C · 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386C5A-5335-443E-984C-626B2A1D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372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56A1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FD4BAC-F11C-4ED5-B639-060E7CB7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0101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rPr>
              <a:t>A+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64B46F-037E-48BF-A6F2-4AAC0861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81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9525">
            <a:solidFill>
              <a:srgbClr val="007F8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F0E9F2-4FCD-4ADD-BFEE-D0142953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5053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6FA3D9-3826-42E7-A8FB-308FCC38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81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9525">
            <a:solidFill>
              <a:srgbClr val="007F8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5C4845-C05A-495B-B2A3-D9B1D895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5053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E · 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CF34B1-C27C-4F78-85E7-9E6C170D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790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56A1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B2DA03-019F-448B-B799-D7097D15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957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rPr>
              <a:t>F+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9AEA80-9312-423B-ABA8-347BE313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097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WORKFLOWS ASSESSED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272F88-C53A-44C6-8B38-ABBF3DF7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383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A   Spec Kit core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553378-3938-4B73-BE9D-D8D7C0CB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574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rPr>
              <a:t>A+ Spec Kit + Assess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DC2745-86D7-4C34-9E79-4ACC6C4C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765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B   Yuval PDLC fork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2EFE0E-FC08-4005-B2DC-B239CF96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956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C   Kiro Specs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FF6ACB-3903-44C2-A64B-61DB0213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D   OpenSpec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4BF46C-3468-490A-874D-7B000CF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338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E   BMAD planned path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3B49F6-2EBE-4004-9473-19F793B5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F   Compound coding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7AA7BA-19BB-47F1-BA7B-4BC3EA48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720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rPr>
              <a:t>F+ Compound + Strategy/Pulse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71ABCF-A639-484E-BDAD-94692D2A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530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+ Optional configuration, explicitly selected</a:t>
            </a:r>
          </a:p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Tied positions are grouped; no rank within ties.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63B633-F750-46FD-BAD3-A6D251EB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No inspected path reaches a fully owned downstream outcome loop.</a:t>
            </a:r>
          </a:p>
        </p:txBody>
      </p:sp>
    </p:spTree>
    <p:extLst>
      <p:ext uri="{BB962C8B-B14F-4D97-AF65-F5344CB8AC3E}">
        <p14:creationId xmlns:p14="http://schemas.microsoft.com/office/powerpoint/2010/main" val="2079404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D77094-9B4D-43ED-9AED-8EB8B8C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Delivery discipline exceeds full lifecycle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38F14-80A6-4006-8DA8-7D571281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SDLC × PDLC · a strong engineering process cannot offset a missing product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8E8B2-17B9-48F3-B57B-5D1D882B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Independent qualitative assessment · 5 Oct 2026 · Not Gartner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87813-FBEF-47D9-BEB6-E55A0B1B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D0557-8D64-4A28-B4CA-21EE6955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677227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E764D-6838-4E20-9BCD-32AA70B0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85950"/>
            <a:ext cx="3009900" cy="157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5C72D-21DF-4B61-AC7A-82D1409F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D2D50-0D69-4A5A-9946-53665AAB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38775"/>
            <a:ext cx="6772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0011E-E4A0-4B6D-AA0A-B0425E54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815A4-5549-4A44-B26B-5C0225C9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24475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8DFE5-BB36-45BB-AF42-00362EA2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85950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208D3-F6B4-4486-8A2E-99080E9C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6772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79DFE-AEE2-4955-A143-69039D0A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05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2903D-CFDC-4F57-9F06-0A785380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33900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1CBED-7D61-4863-9A89-49AD54E6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09905-953B-4456-93E0-F06BA807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6772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3B418-8AFD-4965-A4B3-0D11E43F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05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B9744-6C0D-455C-A795-7CA649AF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43325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2DED7-3B34-418B-9EAE-E2A7D883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85950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4FDA7-0B1C-4779-8ACB-08F21885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6772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758C6-0EEC-4DD6-B3AD-3A713BC3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505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9C47C-D8CD-448B-8ED2-0A7FA1BA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0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4BA7D-CDE9-4D20-B394-012694B9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857B55-3E7F-4C10-A860-0F9317B6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6772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AD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5960A-A2BA-4893-B0D4-8C6EB2B5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05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186C95-F975-4DAF-B6A8-25897702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62175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805A5-F5E6-4487-A0B6-90D67EB5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85950"/>
            <a:ext cx="19050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DB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EDD70-9D7B-4450-9397-8DE1CBA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2338"/>
            <a:ext cx="6772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DB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3BC52D-AF4F-4ABA-9301-B494EADF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742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PDLC 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16518-28E8-4B5B-8A7F-F0110508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57875"/>
            <a:ext cx="390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SDLC 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E2080B-ABDE-449E-9E95-F4E657B4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Product support; limited delivery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690241-5C50-4899-93D3-B844A08E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952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Strong on both axes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13E5BC-7BA6-43E7-8784-5C791B79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3295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Limited support on both axes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77035E-259E-432F-B6D3-DBE50EF0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1719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Strong SDLC; partial PDLC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7EC43E-F4F9-4188-9E0F-8D40B814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81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9525">
            <a:solidFill>
              <a:srgbClr val="007F8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4A8232-CE2F-41BE-8DBB-A32C90F4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815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C · 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EDFCD3-070C-48DD-9B0D-01A808C7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81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9525">
            <a:solidFill>
              <a:srgbClr val="007F8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DCCB4C-1B69-4BA9-ACC9-DB867D51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862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A · 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DEECF3-C7E8-4D15-8EA6-945463F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90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9525">
            <a:solidFill>
              <a:srgbClr val="007F8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8EC436-06D6-46C2-BE45-96BD165E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4385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F83"/>
                </a:solidFill>
                <a:latin typeface="Helvetica Neue"/>
                <a:ea typeface="Helvetica Neue"/>
                <a:cs typeface="Helvetica Neue"/>
              </a:rPr>
              <a:t>B · 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8BBFCA-5397-44BD-85B1-6D7380D9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790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56A1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666F23-2D30-4303-90E4-BA2E4CBC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38525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rPr>
              <a:t>A+ · F+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1D059B-B968-440B-B2D4-0FCE2240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097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WORKFLOWS ASSESSED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115D89-14C5-4F9F-A26C-29BDE8FD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383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A   Spec Kit 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EB0FC0-9B23-4D8B-AF1B-E283A287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574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rPr>
              <a:t>A+ Spec Kit + Assess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AA95C0-A46A-4778-899E-3A6DC1D5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765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B   Yuval PDLC fork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AFC65F-2D58-4385-9BCA-7D833704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956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C   Kiro Specs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206D3B-7E12-4038-AF88-918D3299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D   OpenSpec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124CAF-7CD4-4D8F-A0EA-572F059A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338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E   BMAD planned path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90245D-8E3F-4F92-B83C-7A4C4A08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F   Compound coding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EDCB13-32D5-4B8B-9A9D-2821646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720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56A10"/>
                </a:solidFill>
                <a:latin typeface="Helvetica Neue"/>
                <a:ea typeface="Helvetica Neue"/>
                <a:cs typeface="Helvetica Neue"/>
              </a:rPr>
              <a:t>F+ Compound + Strategy/Pulse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86FE65-5207-4B24-8DA3-DEEAFA78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530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+ Optional configuration, explicitly selected</a:t>
            </a:r>
          </a:p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Tied positions are grouped; no rank within ties.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902E73-442D-4D67-A2EC-F9198F96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Bands 0–4 use explicit anchors; 3+ requires linked support. This is not a maturity percentage.</a:t>
            </a:r>
          </a:p>
        </p:txBody>
      </p:sp>
    </p:spTree>
    <p:extLst>
      <p:ext uri="{BB962C8B-B14F-4D97-AF65-F5344CB8AC3E}">
        <p14:creationId xmlns:p14="http://schemas.microsoft.com/office/powerpoint/2010/main" val="1550229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CC365-CD44-4024-90E7-D5B35938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53743"/>
                </a:solidFill>
                <a:latin typeface="Helvetica Neue"/>
                <a:ea typeface="Helvetica Neue"/>
                <a:cs typeface="Helvetica Neue"/>
              </a:rPr>
              <a:t>Framework summary: retain the strength, close 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F027E-485E-4A93-8024-89949D4B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7AE63-5294-43C7-8559-3A0BEE7A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Independent qualitative assessment · 5 Oct 2026 · Not Gartner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E5F15-DF06-495E-9A98-1078A8EB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1257300"/>
          <a:ext xmlns:a="http://schemas.openxmlformats.org/drawingml/2006/main" cx="112776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905125"/>
                <a:gridCol w="3514725"/>
                <a:gridCol w="22860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Framework / path</a:t>
                      </a:r>
                    </a:p>
                  </a:txBody>
                  <a:tcPr marL="76200" marR="76200" marT="38100" marB="38100">
                    <a:solidFill>
                      <a:srgbClr val="1537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does well</a:t>
                      </a:r>
                    </a:p>
                  </a:txBody>
                  <a:tcPr marL="76200" marR="76200" marT="38100" marB="38100">
                    <a:solidFill>
                      <a:srgbClr val="1537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First product-lifecycle repair</a:t>
                      </a:r>
                    </a:p>
                  </a:txBody>
                  <a:tcPr marL="76200" marR="76200" marT="38100" marB="38100">
                    <a:solidFill>
                      <a:srgbClr val="1537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76200" marR="76200" marT="38100" marB="38100">
                    <a:solidFill>
                      <a:srgbClr val="153743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 Spec Kit core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 and implementation alignment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 the post-launch outcome review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SDLC-focused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A+  Spec Kit + Assess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Evidence-backed front-end decision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Revisit the original bet after launch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PDLC-aware;</a:t>
                      </a:r>
                    </a:p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loop incomplete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  Yuval PDLC fork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Assumption-driven learning and validation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Make adoption → validation an owned handoff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PDLC-aware;</a:t>
                      </a:r>
                    </a:p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loop incomplete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  Kiro Specs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specs and correctness checks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Link correctness to a customer-value signal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SDLC-focused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  OpenSpec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Living specs and disciplined change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Link archived changes to an outcome review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SDLC-focused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  BMAD planned path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 planning and delivery retrospectives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Feed customer evidence into the next investment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PDLC-aware;</a:t>
                      </a:r>
                    </a:p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loop incomplete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  Compound coding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 intent, review and corrective delivery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Give shipped plans a product decision owner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SDLC-focused</a:t>
                      </a:r>
                    </a:p>
                  </a:txBody>
                  <a:tcPr marL="76200" marR="76200" marT="38100" marB="38100">
                    <a:solidFill>
                      <a:srgbClr val="F3F7F7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F+  Compound + Strategy/Pulse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Strategy plus actual product-signal reporting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537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Turn pulse reports into owned decisions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PDLC-aware;</a:t>
                      </a:r>
                    </a:p>
                    <a:p>
                      <a:r>
                        <a:rPr sz="1425" b="0">
                          <a:solidFill>
                            <a:srgbClr val="007F8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loop incomplete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73AC9-2394-4304-AED2-0E99A5B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0"/>
            <a:ext cx="11239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683"/>
                </a:solidFill>
                <a:latin typeface="Helvetica Neue"/>
                <a:ea typeface="Helvetica Neue"/>
                <a:cs typeface="Helvetica Neue"/>
              </a:rPr>
              <a:t>Scope: + = optional configuration. BMAD = planned product path. Yuval fork = older base.</a:t>
            </a:r>
          </a:p>
        </p:txBody>
      </p:sp>
    </p:spTree>
    <p:extLst>
      <p:ext uri="{BB962C8B-B14F-4D97-AF65-F5344CB8AC3E}">
        <p14:creationId xmlns:p14="http://schemas.microsoft.com/office/powerpoint/2010/main" val="1584522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2026-10-05T16:16:30.5990000Z</dcterms:created>
  <dcterms:modified xsi:type="dcterms:W3CDTF">2026-10-05T16:16:30.5990000Z</dcterms:modified>
</coreProperties>
</file>